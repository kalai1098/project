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Open Sans" panose="020B0606030504020204" pitchFamily="34" charset="0"/>
      <p:regular r:id="rId15"/>
    </p:embeddedFont>
    <p:embeddedFont>
      <p:font typeface="Open Sans Bold" panose="020B0604020202020204" charset="0"/>
      <p:regular r:id="rId16"/>
    </p:embeddedFont>
    <p:embeddedFont>
      <p:font typeface="Poppins Bold" panose="020B0604020202020204" charset="0"/>
      <p:regular r:id="rId17"/>
    </p:embeddedFont>
    <p:embeddedFont>
      <p:font typeface="Poppins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6675214"/>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AutoShape 6"/>
          <p:cNvSpPr/>
          <p:nvPr/>
        </p:nvSpPr>
        <p:spPr>
          <a:xfrm>
            <a:off x="1257501" y="8066575"/>
            <a:ext cx="0" cy="867546"/>
          </a:xfrm>
          <a:prstGeom prst="line">
            <a:avLst/>
          </a:prstGeom>
          <a:ln w="57150" cap="rnd">
            <a:solidFill>
              <a:srgbClr val="60A5FA"/>
            </a:solidFill>
            <a:prstDash val="solid"/>
            <a:headEnd type="none" w="sm" len="sm"/>
            <a:tailEnd type="none" w="sm" len="sm"/>
          </a:ln>
        </p:spPr>
      </p:sp>
      <p:grpSp>
        <p:nvGrpSpPr>
          <p:cNvPr id="7" name="Group 7"/>
          <p:cNvGrpSpPr/>
          <p:nvPr/>
        </p:nvGrpSpPr>
        <p:grpSpPr>
          <a:xfrm>
            <a:off x="13465169" y="5539420"/>
            <a:ext cx="4734066" cy="4747580"/>
            <a:chOff x="0" y="0"/>
            <a:chExt cx="531164" cy="532680"/>
          </a:xfrm>
        </p:grpSpPr>
        <p:sp>
          <p:nvSpPr>
            <p:cNvPr id="8" name="Freeform 8"/>
            <p:cNvSpPr/>
            <p:nvPr/>
          </p:nvSpPr>
          <p:spPr>
            <a:xfrm>
              <a:off x="0" y="0"/>
              <a:ext cx="531164" cy="532680"/>
            </a:xfrm>
            <a:custGeom>
              <a:avLst/>
              <a:gdLst/>
              <a:ahLst/>
              <a:cxnLst/>
              <a:rect l="l" t="t" r="r" b="b"/>
              <a:pathLst>
                <a:path w="531164" h="532680">
                  <a:moveTo>
                    <a:pt x="265582" y="0"/>
                  </a:moveTo>
                  <a:cubicBezTo>
                    <a:pt x="118905" y="0"/>
                    <a:pt x="0" y="119245"/>
                    <a:pt x="0" y="266340"/>
                  </a:cubicBezTo>
                  <a:cubicBezTo>
                    <a:pt x="0" y="413436"/>
                    <a:pt x="118905" y="532680"/>
                    <a:pt x="265582" y="532680"/>
                  </a:cubicBezTo>
                  <a:cubicBezTo>
                    <a:pt x="412259" y="532680"/>
                    <a:pt x="531164" y="413436"/>
                    <a:pt x="531164" y="266340"/>
                  </a:cubicBezTo>
                  <a:cubicBezTo>
                    <a:pt x="531164" y="119245"/>
                    <a:pt x="412259" y="0"/>
                    <a:pt x="265582"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sp>
        <p:sp>
          <p:nvSpPr>
            <p:cNvPr id="9" name="TextBox 9"/>
            <p:cNvSpPr txBox="1"/>
            <p:nvPr/>
          </p:nvSpPr>
          <p:spPr>
            <a:xfrm>
              <a:off x="49797" y="2314"/>
              <a:ext cx="431571" cy="480428"/>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13553934" y="1927631"/>
            <a:ext cx="4734066" cy="4747580"/>
            <a:chOff x="0" y="0"/>
            <a:chExt cx="540690" cy="542233"/>
          </a:xfrm>
        </p:grpSpPr>
        <p:sp>
          <p:nvSpPr>
            <p:cNvPr id="11" name="Freeform 11"/>
            <p:cNvSpPr/>
            <p:nvPr/>
          </p:nvSpPr>
          <p:spPr>
            <a:xfrm>
              <a:off x="0" y="0"/>
              <a:ext cx="540690" cy="542233"/>
            </a:xfrm>
            <a:custGeom>
              <a:avLst/>
              <a:gdLst/>
              <a:ahLst/>
              <a:cxnLst/>
              <a:rect l="l" t="t" r="r" b="b"/>
              <a:pathLst>
                <a:path w="540690" h="542233">
                  <a:moveTo>
                    <a:pt x="270345" y="0"/>
                  </a:moveTo>
                  <a:cubicBezTo>
                    <a:pt x="121038" y="0"/>
                    <a:pt x="0" y="121383"/>
                    <a:pt x="0" y="271117"/>
                  </a:cubicBezTo>
                  <a:cubicBezTo>
                    <a:pt x="0" y="420850"/>
                    <a:pt x="121038" y="542233"/>
                    <a:pt x="270345" y="542233"/>
                  </a:cubicBezTo>
                  <a:cubicBezTo>
                    <a:pt x="419652" y="542233"/>
                    <a:pt x="540690" y="420850"/>
                    <a:pt x="540690" y="271117"/>
                  </a:cubicBezTo>
                  <a:cubicBezTo>
                    <a:pt x="540690" y="121383"/>
                    <a:pt x="419652" y="0"/>
                    <a:pt x="270345" y="0"/>
                  </a:cubicBezTo>
                  <a:close/>
                </a:path>
              </a:pathLst>
            </a:custGeom>
            <a:ln w="47625" cap="sq">
              <a:solidFill>
                <a:srgbClr val="60A5FA"/>
              </a:solidFill>
              <a:prstDash val="solid"/>
              <a:miter/>
            </a:ln>
          </p:spPr>
        </p:sp>
        <p:sp>
          <p:nvSpPr>
            <p:cNvPr id="12" name="TextBox 12"/>
            <p:cNvSpPr txBox="1"/>
            <p:nvPr/>
          </p:nvSpPr>
          <p:spPr>
            <a:xfrm>
              <a:off x="50690" y="3209"/>
              <a:ext cx="439311" cy="488190"/>
            </a:xfrm>
            <a:prstGeom prst="rect">
              <a:avLst/>
            </a:prstGeom>
          </p:spPr>
          <p:txBody>
            <a:bodyPr lIns="50800" tIns="50800" rIns="50800" bIns="50800" rtlCol="0" anchor="ctr"/>
            <a:lstStyle/>
            <a:p>
              <a:pPr algn="ctr">
                <a:lnSpc>
                  <a:spcPts val="3499"/>
                </a:lnSpc>
              </a:pPr>
              <a:endParaRPr/>
            </a:p>
          </p:txBody>
        </p:sp>
      </p:grpSp>
      <p:sp>
        <p:nvSpPr>
          <p:cNvPr id="13" name="TextBox 13"/>
          <p:cNvSpPr txBox="1"/>
          <p:nvPr/>
        </p:nvSpPr>
        <p:spPr>
          <a:xfrm>
            <a:off x="1028700" y="712995"/>
            <a:ext cx="14179232" cy="3788200"/>
          </a:xfrm>
          <a:prstGeom prst="rect">
            <a:avLst/>
          </a:prstGeom>
        </p:spPr>
        <p:txBody>
          <a:bodyPr lIns="0" tIns="0" rIns="0" bIns="0" rtlCol="0" anchor="t">
            <a:spAutoFit/>
          </a:bodyPr>
          <a:lstStyle/>
          <a:p>
            <a:pPr algn="just">
              <a:lnSpc>
                <a:spcPts val="14795"/>
              </a:lnSpc>
            </a:pPr>
            <a:r>
              <a:rPr lang="en-US" sz="10567" b="1">
                <a:solidFill>
                  <a:srgbClr val="1E293B"/>
                </a:solidFill>
                <a:latin typeface="Poppins Bold"/>
                <a:ea typeface="Poppins Bold"/>
                <a:cs typeface="Poppins Bold"/>
                <a:sym typeface="Poppins Bold"/>
              </a:rPr>
              <a:t>Digital Prescription Report  Analysis </a:t>
            </a:r>
          </a:p>
        </p:txBody>
      </p:sp>
      <p:grpSp>
        <p:nvGrpSpPr>
          <p:cNvPr id="14" name="Group 14"/>
          <p:cNvGrpSpPr/>
          <p:nvPr/>
        </p:nvGrpSpPr>
        <p:grpSpPr>
          <a:xfrm>
            <a:off x="13465169" y="5539420"/>
            <a:ext cx="4734066" cy="4747580"/>
            <a:chOff x="0" y="0"/>
            <a:chExt cx="540690" cy="542233"/>
          </a:xfrm>
        </p:grpSpPr>
        <p:sp>
          <p:nvSpPr>
            <p:cNvPr id="15" name="Freeform 15"/>
            <p:cNvSpPr/>
            <p:nvPr/>
          </p:nvSpPr>
          <p:spPr>
            <a:xfrm>
              <a:off x="0" y="0"/>
              <a:ext cx="540690" cy="542233"/>
            </a:xfrm>
            <a:custGeom>
              <a:avLst/>
              <a:gdLst/>
              <a:ahLst/>
              <a:cxnLst/>
              <a:rect l="l" t="t" r="r" b="b"/>
              <a:pathLst>
                <a:path w="540690" h="542233">
                  <a:moveTo>
                    <a:pt x="270345" y="0"/>
                  </a:moveTo>
                  <a:cubicBezTo>
                    <a:pt x="121038" y="0"/>
                    <a:pt x="0" y="121383"/>
                    <a:pt x="0" y="271117"/>
                  </a:cubicBezTo>
                  <a:cubicBezTo>
                    <a:pt x="0" y="420850"/>
                    <a:pt x="121038" y="542233"/>
                    <a:pt x="270345" y="542233"/>
                  </a:cubicBezTo>
                  <a:cubicBezTo>
                    <a:pt x="419652" y="542233"/>
                    <a:pt x="540690" y="420850"/>
                    <a:pt x="540690" y="271117"/>
                  </a:cubicBezTo>
                  <a:cubicBezTo>
                    <a:pt x="540690" y="121383"/>
                    <a:pt x="419652" y="0"/>
                    <a:pt x="270345" y="0"/>
                  </a:cubicBezTo>
                  <a:close/>
                </a:path>
              </a:pathLst>
            </a:custGeom>
            <a:ln w="47625" cap="sq">
              <a:solidFill>
                <a:srgbClr val="60A5FA"/>
              </a:solidFill>
              <a:prstDash val="solid"/>
              <a:miter/>
            </a:ln>
          </p:spPr>
        </p:sp>
        <p:sp>
          <p:nvSpPr>
            <p:cNvPr id="16" name="TextBox 16"/>
            <p:cNvSpPr txBox="1"/>
            <p:nvPr/>
          </p:nvSpPr>
          <p:spPr>
            <a:xfrm>
              <a:off x="50690" y="3209"/>
              <a:ext cx="439311" cy="488190"/>
            </a:xfrm>
            <a:prstGeom prst="rect">
              <a:avLst/>
            </a:prstGeom>
          </p:spPr>
          <p:txBody>
            <a:bodyPr lIns="50800" tIns="50800" rIns="50800" bIns="50800" rtlCol="0" anchor="ctr"/>
            <a:lstStyle/>
            <a:p>
              <a:pPr algn="ctr">
                <a:lnSpc>
                  <a:spcPts val="3499"/>
                </a:lnSpc>
              </a:pPr>
              <a:endParaRPr/>
            </a:p>
          </p:txBody>
        </p:sp>
      </p:grpSp>
      <p:grpSp>
        <p:nvGrpSpPr>
          <p:cNvPr id="17" name="Group 17"/>
          <p:cNvGrpSpPr/>
          <p:nvPr/>
        </p:nvGrpSpPr>
        <p:grpSpPr>
          <a:xfrm flipV="1">
            <a:off x="15207932" y="5969640"/>
            <a:ext cx="1237021" cy="229816"/>
            <a:chOff x="0" y="0"/>
            <a:chExt cx="531164" cy="597667"/>
          </a:xfrm>
        </p:grpSpPr>
        <p:sp>
          <p:nvSpPr>
            <p:cNvPr id="18" name="Freeform 18"/>
            <p:cNvSpPr/>
            <p:nvPr/>
          </p:nvSpPr>
          <p:spPr>
            <a:xfrm>
              <a:off x="0" y="0"/>
              <a:ext cx="531164" cy="597667"/>
            </a:xfrm>
            <a:custGeom>
              <a:avLst/>
              <a:gdLst/>
              <a:ahLst/>
              <a:cxnLst/>
              <a:rect l="l" t="t" r="r" b="b"/>
              <a:pathLst>
                <a:path w="531164" h="597667">
                  <a:moveTo>
                    <a:pt x="265582" y="0"/>
                  </a:moveTo>
                  <a:cubicBezTo>
                    <a:pt x="118905" y="0"/>
                    <a:pt x="0" y="133792"/>
                    <a:pt x="0" y="298834"/>
                  </a:cubicBezTo>
                  <a:cubicBezTo>
                    <a:pt x="0" y="463875"/>
                    <a:pt x="118905" y="597667"/>
                    <a:pt x="265582" y="597667"/>
                  </a:cubicBezTo>
                  <a:cubicBezTo>
                    <a:pt x="412259" y="597667"/>
                    <a:pt x="531164" y="463875"/>
                    <a:pt x="531164" y="298834"/>
                  </a:cubicBezTo>
                  <a:cubicBezTo>
                    <a:pt x="531164" y="133792"/>
                    <a:pt x="412259" y="0"/>
                    <a:pt x="265582"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id="19" name="TextBox 19"/>
            <p:cNvSpPr txBox="1"/>
            <p:nvPr/>
          </p:nvSpPr>
          <p:spPr>
            <a:xfrm>
              <a:off x="49797" y="8406"/>
              <a:ext cx="431571" cy="533230"/>
            </a:xfrm>
            <a:prstGeom prst="rect">
              <a:avLst/>
            </a:prstGeom>
          </p:spPr>
          <p:txBody>
            <a:bodyPr lIns="50800" tIns="50800" rIns="50800" bIns="50800" rtlCol="0" anchor="ctr"/>
            <a:lstStyle/>
            <a:p>
              <a:pPr algn="ctr">
                <a:lnSpc>
                  <a:spcPts val="3499"/>
                </a:lnSpc>
              </a:pPr>
              <a:endParaRPr/>
            </a:p>
          </p:txBody>
        </p:sp>
      </p:grpSp>
      <p:sp>
        <p:nvSpPr>
          <p:cNvPr id="20" name="Freeform 20"/>
          <p:cNvSpPr/>
          <p:nvPr/>
        </p:nvSpPr>
        <p:spPr>
          <a:xfrm>
            <a:off x="14595181" y="6675214"/>
            <a:ext cx="2805882" cy="2782723"/>
          </a:xfrm>
          <a:custGeom>
            <a:avLst/>
            <a:gdLst/>
            <a:ahLst/>
            <a:cxnLst/>
            <a:rect l="l" t="t" r="r" b="b"/>
            <a:pathLst>
              <a:path w="2805882" h="2782723">
                <a:moveTo>
                  <a:pt x="0" y="0"/>
                </a:moveTo>
                <a:lnTo>
                  <a:pt x="2805882" y="0"/>
                </a:lnTo>
                <a:lnTo>
                  <a:pt x="2805882" y="2782723"/>
                </a:lnTo>
                <a:lnTo>
                  <a:pt x="0" y="278272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1624608" y="8018950"/>
            <a:ext cx="3976232" cy="422238"/>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Presented by:</a:t>
            </a:r>
          </a:p>
        </p:txBody>
      </p:sp>
      <p:sp>
        <p:nvSpPr>
          <p:cNvPr id="22" name="TextBox 22"/>
          <p:cNvSpPr txBox="1"/>
          <p:nvPr/>
        </p:nvSpPr>
        <p:spPr>
          <a:xfrm>
            <a:off x="1624608" y="8511884"/>
            <a:ext cx="3976232"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Kalaivani</a:t>
            </a:r>
          </a:p>
        </p:txBody>
      </p:sp>
      <p:pic>
        <p:nvPicPr>
          <p:cNvPr id="24" name="Picture 23">
            <a:extLst>
              <a:ext uri="{FF2B5EF4-FFF2-40B4-BE49-F238E27FC236}">
                <a16:creationId xmlns:a16="http://schemas.microsoft.com/office/drawing/2014/main" id="{DEF2D49A-1485-4DD6-38A8-8A7EF80AE0B4}"/>
              </a:ext>
            </a:extLst>
          </p:cNvPr>
          <p:cNvPicPr>
            <a:picLocks noChangeAspect="1"/>
          </p:cNvPicPr>
          <p:nvPr/>
        </p:nvPicPr>
        <p:blipFill>
          <a:blip r:embed="rId4"/>
          <a:stretch>
            <a:fillRect/>
          </a:stretch>
        </p:blipFill>
        <p:spPr>
          <a:xfrm>
            <a:off x="17170810" y="165490"/>
            <a:ext cx="847417" cy="8474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731460" y="3032064"/>
            <a:ext cx="4794543" cy="815978"/>
            <a:chOff x="0" y="0"/>
            <a:chExt cx="1262760" cy="214908"/>
          </a:xfrm>
        </p:grpSpPr>
        <p:sp>
          <p:nvSpPr>
            <p:cNvPr id="6" name="Freeform 6"/>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7" name="TextBox 7"/>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a:solidFill>
                    <a:srgbClr val="000000"/>
                  </a:solidFill>
                  <a:latin typeface="Open Sans Bold"/>
                  <a:ea typeface="Open Sans Bold"/>
                  <a:cs typeface="Open Sans Bold"/>
                  <a:sym typeface="Open Sans Bold"/>
                </a:rPr>
                <a:t>Project Overview</a:t>
              </a:r>
            </a:p>
          </p:txBody>
        </p:sp>
      </p:grpSp>
      <p:sp>
        <p:nvSpPr>
          <p:cNvPr id="8" name="Freeform 8"/>
          <p:cNvSpPr/>
          <p:nvPr/>
        </p:nvSpPr>
        <p:spPr>
          <a:xfrm>
            <a:off x="2731460" y="3059082"/>
            <a:ext cx="761942" cy="761942"/>
          </a:xfrm>
          <a:custGeom>
            <a:avLst/>
            <a:gdLst/>
            <a:ahLst/>
            <a:cxnLst/>
            <a:rect l="l" t="t" r="r" b="b"/>
            <a:pathLst>
              <a:path w="761942" h="761942">
                <a:moveTo>
                  <a:pt x="0" y="0"/>
                </a:moveTo>
                <a:lnTo>
                  <a:pt x="761942" y="0"/>
                </a:lnTo>
                <a:lnTo>
                  <a:pt x="761942" y="761942"/>
                </a:lnTo>
                <a:lnTo>
                  <a:pt x="0" y="76194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2731460" y="4904089"/>
            <a:ext cx="4794543" cy="815978"/>
            <a:chOff x="0" y="0"/>
            <a:chExt cx="1262760" cy="214908"/>
          </a:xfrm>
        </p:grpSpPr>
        <p:sp>
          <p:nvSpPr>
            <p:cNvPr id="10" name="Freeform 10"/>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11" name="TextBox 11"/>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dirty="0">
                  <a:solidFill>
                    <a:srgbClr val="000000"/>
                  </a:solidFill>
                  <a:latin typeface="Open Sans Bold"/>
                  <a:ea typeface="Open Sans Bold"/>
                  <a:cs typeface="Open Sans Bold"/>
                  <a:sym typeface="Open Sans Bold"/>
                </a:rPr>
                <a:t>Project Scope </a:t>
              </a:r>
            </a:p>
          </p:txBody>
        </p:sp>
      </p:grpSp>
      <p:sp>
        <p:nvSpPr>
          <p:cNvPr id="12" name="Freeform 12"/>
          <p:cNvSpPr/>
          <p:nvPr/>
        </p:nvSpPr>
        <p:spPr>
          <a:xfrm>
            <a:off x="2731460" y="4904089"/>
            <a:ext cx="761942" cy="761942"/>
          </a:xfrm>
          <a:custGeom>
            <a:avLst/>
            <a:gdLst/>
            <a:ahLst/>
            <a:cxnLst/>
            <a:rect l="l" t="t" r="r" b="b"/>
            <a:pathLst>
              <a:path w="761942" h="761942">
                <a:moveTo>
                  <a:pt x="0" y="0"/>
                </a:moveTo>
                <a:lnTo>
                  <a:pt x="761942" y="0"/>
                </a:lnTo>
                <a:lnTo>
                  <a:pt x="761942" y="761942"/>
                </a:lnTo>
                <a:lnTo>
                  <a:pt x="0" y="761942"/>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731460" y="6959041"/>
            <a:ext cx="4794543" cy="815978"/>
            <a:chOff x="0" y="0"/>
            <a:chExt cx="1262760" cy="214908"/>
          </a:xfrm>
        </p:grpSpPr>
        <p:sp>
          <p:nvSpPr>
            <p:cNvPr id="14" name="Freeform 14"/>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15" name="TextBox 15"/>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dirty="0">
                  <a:solidFill>
                    <a:srgbClr val="000000"/>
                  </a:solidFill>
                  <a:latin typeface="Open Sans Bold"/>
                  <a:ea typeface="Open Sans Bold"/>
                  <a:cs typeface="Open Sans Bold"/>
                  <a:sym typeface="Open Sans Bold"/>
                </a:rPr>
                <a:t>Dataset Overview</a:t>
              </a:r>
            </a:p>
          </p:txBody>
        </p:sp>
      </p:grpSp>
      <p:sp>
        <p:nvSpPr>
          <p:cNvPr id="16" name="Freeform 16"/>
          <p:cNvSpPr/>
          <p:nvPr/>
        </p:nvSpPr>
        <p:spPr>
          <a:xfrm>
            <a:off x="2758478" y="6999568"/>
            <a:ext cx="734924" cy="734924"/>
          </a:xfrm>
          <a:custGeom>
            <a:avLst/>
            <a:gdLst/>
            <a:ahLst/>
            <a:cxnLst/>
            <a:rect l="l" t="t" r="r" b="b"/>
            <a:pathLst>
              <a:path w="734924" h="734924">
                <a:moveTo>
                  <a:pt x="0" y="0"/>
                </a:moveTo>
                <a:lnTo>
                  <a:pt x="734924" y="0"/>
                </a:lnTo>
                <a:lnTo>
                  <a:pt x="734924" y="734923"/>
                </a:lnTo>
                <a:lnTo>
                  <a:pt x="0" y="73492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11378973" y="3032064"/>
            <a:ext cx="4794543" cy="815978"/>
            <a:chOff x="0" y="0"/>
            <a:chExt cx="1262760" cy="214908"/>
          </a:xfrm>
        </p:grpSpPr>
        <p:sp>
          <p:nvSpPr>
            <p:cNvPr id="18" name="Freeform 18"/>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19" name="TextBox 19"/>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a:solidFill>
                    <a:srgbClr val="000000"/>
                  </a:solidFill>
                  <a:latin typeface="Open Sans Bold"/>
                  <a:ea typeface="Open Sans Bold"/>
                  <a:cs typeface="Open Sans Bold"/>
                  <a:sym typeface="Open Sans Bold"/>
                </a:rPr>
                <a:t>Project Workflow</a:t>
              </a:r>
            </a:p>
          </p:txBody>
        </p:sp>
      </p:grpSp>
      <p:sp>
        <p:nvSpPr>
          <p:cNvPr id="20" name="Freeform 20"/>
          <p:cNvSpPr/>
          <p:nvPr/>
        </p:nvSpPr>
        <p:spPr>
          <a:xfrm>
            <a:off x="11378973" y="3086100"/>
            <a:ext cx="734924" cy="734924"/>
          </a:xfrm>
          <a:custGeom>
            <a:avLst/>
            <a:gdLst/>
            <a:ahLst/>
            <a:cxnLst/>
            <a:rect l="l" t="t" r="r" b="b"/>
            <a:pathLst>
              <a:path w="734924" h="734924">
                <a:moveTo>
                  <a:pt x="0" y="0"/>
                </a:moveTo>
                <a:lnTo>
                  <a:pt x="734924" y="0"/>
                </a:lnTo>
                <a:lnTo>
                  <a:pt x="734924" y="734924"/>
                </a:lnTo>
                <a:lnTo>
                  <a:pt x="0" y="73492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21" name="Group 21"/>
          <p:cNvGrpSpPr/>
          <p:nvPr/>
        </p:nvGrpSpPr>
        <p:grpSpPr>
          <a:xfrm>
            <a:off x="11378973" y="4904089"/>
            <a:ext cx="4794543" cy="815978"/>
            <a:chOff x="0" y="0"/>
            <a:chExt cx="1262760" cy="214908"/>
          </a:xfrm>
        </p:grpSpPr>
        <p:sp>
          <p:nvSpPr>
            <p:cNvPr id="22" name="Freeform 22"/>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23" name="TextBox 23"/>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a:solidFill>
                    <a:srgbClr val="000000"/>
                  </a:solidFill>
                  <a:latin typeface="Open Sans Bold"/>
                  <a:ea typeface="Open Sans Bold"/>
                  <a:cs typeface="Open Sans Bold"/>
                  <a:sym typeface="Open Sans Bold"/>
                </a:rPr>
                <a:t>Data Visualization</a:t>
              </a:r>
            </a:p>
          </p:txBody>
        </p:sp>
      </p:grpSp>
      <p:sp>
        <p:nvSpPr>
          <p:cNvPr id="24" name="Freeform 24"/>
          <p:cNvSpPr/>
          <p:nvPr/>
        </p:nvSpPr>
        <p:spPr>
          <a:xfrm>
            <a:off x="11378973" y="4904089"/>
            <a:ext cx="761942" cy="761942"/>
          </a:xfrm>
          <a:custGeom>
            <a:avLst/>
            <a:gdLst/>
            <a:ahLst/>
            <a:cxnLst/>
            <a:rect l="l" t="t" r="r" b="b"/>
            <a:pathLst>
              <a:path w="761942" h="761942">
                <a:moveTo>
                  <a:pt x="0" y="0"/>
                </a:moveTo>
                <a:lnTo>
                  <a:pt x="761942" y="0"/>
                </a:lnTo>
                <a:lnTo>
                  <a:pt x="761942" y="761942"/>
                </a:lnTo>
                <a:lnTo>
                  <a:pt x="0" y="761942"/>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5" name="Group 25"/>
          <p:cNvGrpSpPr/>
          <p:nvPr/>
        </p:nvGrpSpPr>
        <p:grpSpPr>
          <a:xfrm>
            <a:off x="11378973" y="6959041"/>
            <a:ext cx="4794543" cy="815978"/>
            <a:chOff x="0" y="0"/>
            <a:chExt cx="1262760" cy="214908"/>
          </a:xfrm>
        </p:grpSpPr>
        <p:sp>
          <p:nvSpPr>
            <p:cNvPr id="26" name="Freeform 26"/>
            <p:cNvSpPr/>
            <p:nvPr/>
          </p:nvSpPr>
          <p:spPr>
            <a:xfrm>
              <a:off x="0" y="0"/>
              <a:ext cx="1262760" cy="214908"/>
            </a:xfrm>
            <a:custGeom>
              <a:avLst/>
              <a:gdLst/>
              <a:ahLst/>
              <a:cxnLst/>
              <a:rect l="l" t="t" r="r" b="b"/>
              <a:pathLst>
                <a:path w="1262760" h="214908">
                  <a:moveTo>
                    <a:pt x="80737" y="0"/>
                  </a:moveTo>
                  <a:lnTo>
                    <a:pt x="1182024" y="0"/>
                  </a:lnTo>
                  <a:cubicBezTo>
                    <a:pt x="1226613" y="0"/>
                    <a:pt x="1262760" y="36147"/>
                    <a:pt x="1262760" y="80737"/>
                  </a:cubicBezTo>
                  <a:lnTo>
                    <a:pt x="1262760" y="134171"/>
                  </a:lnTo>
                  <a:cubicBezTo>
                    <a:pt x="1262760" y="178761"/>
                    <a:pt x="1226613" y="214908"/>
                    <a:pt x="1182024" y="214908"/>
                  </a:cubicBezTo>
                  <a:lnTo>
                    <a:pt x="80737" y="214908"/>
                  </a:lnTo>
                  <a:cubicBezTo>
                    <a:pt x="36147" y="214908"/>
                    <a:pt x="0" y="178761"/>
                    <a:pt x="0" y="134171"/>
                  </a:cubicBezTo>
                  <a:lnTo>
                    <a:pt x="0" y="80737"/>
                  </a:lnTo>
                  <a:cubicBezTo>
                    <a:pt x="0" y="36147"/>
                    <a:pt x="36147" y="0"/>
                    <a:pt x="80737" y="0"/>
                  </a:cubicBezTo>
                  <a:close/>
                </a:path>
              </a:pathLst>
            </a:custGeom>
            <a:solidFill>
              <a:srgbClr val="60A5FA"/>
            </a:solidFill>
          </p:spPr>
        </p:sp>
        <p:sp>
          <p:nvSpPr>
            <p:cNvPr id="27" name="TextBox 27"/>
            <p:cNvSpPr txBox="1"/>
            <p:nvPr/>
          </p:nvSpPr>
          <p:spPr>
            <a:xfrm>
              <a:off x="0" y="-47625"/>
              <a:ext cx="1262760" cy="262533"/>
            </a:xfrm>
            <a:prstGeom prst="rect">
              <a:avLst/>
            </a:prstGeom>
          </p:spPr>
          <p:txBody>
            <a:bodyPr lIns="50800" tIns="50800" rIns="50800" bIns="50800" rtlCol="0" anchor="ctr"/>
            <a:lstStyle/>
            <a:p>
              <a:pPr algn="ctr">
                <a:lnSpc>
                  <a:spcPts val="3499"/>
                </a:lnSpc>
              </a:pPr>
              <a:r>
                <a:rPr lang="en-US" sz="2499" b="1" dirty="0">
                  <a:solidFill>
                    <a:srgbClr val="000000"/>
                  </a:solidFill>
                  <a:latin typeface="Open Sans Bold"/>
                  <a:ea typeface="Open Sans Bold"/>
                  <a:cs typeface="Open Sans Bold"/>
                  <a:sym typeface="Open Sans Bold"/>
                </a:rPr>
                <a:t>Key findings &amp; Result</a:t>
              </a:r>
            </a:p>
          </p:txBody>
        </p:sp>
      </p:grpSp>
      <p:sp>
        <p:nvSpPr>
          <p:cNvPr id="28" name="Freeform 28"/>
          <p:cNvSpPr/>
          <p:nvPr/>
        </p:nvSpPr>
        <p:spPr>
          <a:xfrm>
            <a:off x="11378973" y="6999568"/>
            <a:ext cx="734924" cy="734924"/>
          </a:xfrm>
          <a:custGeom>
            <a:avLst/>
            <a:gdLst/>
            <a:ahLst/>
            <a:cxnLst/>
            <a:rect l="l" t="t" r="r" b="b"/>
            <a:pathLst>
              <a:path w="734924" h="734924">
                <a:moveTo>
                  <a:pt x="0" y="0"/>
                </a:moveTo>
                <a:lnTo>
                  <a:pt x="734924" y="0"/>
                </a:lnTo>
                <a:lnTo>
                  <a:pt x="734924" y="734923"/>
                </a:lnTo>
                <a:lnTo>
                  <a:pt x="0" y="73492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9" name="TextBox 29"/>
          <p:cNvSpPr txBox="1"/>
          <p:nvPr/>
        </p:nvSpPr>
        <p:spPr>
          <a:xfrm>
            <a:off x="1028700" y="1114425"/>
            <a:ext cx="5515802" cy="1128396"/>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Agenda</a:t>
            </a:r>
          </a:p>
        </p:txBody>
      </p:sp>
      <p:sp>
        <p:nvSpPr>
          <p:cNvPr id="30" name="Freeform 30"/>
          <p:cNvSpPr/>
          <p:nvPr/>
        </p:nvSpPr>
        <p:spPr>
          <a:xfrm>
            <a:off x="367633"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rot="-7968529">
            <a:off x="16010357" y="-186068"/>
            <a:ext cx="2223342" cy="2684494"/>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028700" y="1085850"/>
            <a:ext cx="6810061" cy="701681"/>
          </a:xfrm>
          <a:prstGeom prst="rect">
            <a:avLst/>
          </a:prstGeom>
        </p:spPr>
        <p:txBody>
          <a:bodyPr lIns="0" tIns="0" rIns="0" bIns="0" rtlCol="0" anchor="t">
            <a:spAutoFit/>
          </a:bodyPr>
          <a:lstStyle/>
          <a:p>
            <a:pPr algn="l">
              <a:lnSpc>
                <a:spcPts val="4900"/>
              </a:lnSpc>
            </a:pPr>
            <a:r>
              <a:rPr lang="en-US" sz="5000" b="1">
                <a:solidFill>
                  <a:srgbClr val="1E293B"/>
                </a:solidFill>
                <a:latin typeface="Poppins Semi-Bold"/>
                <a:ea typeface="Poppins Semi-Bold"/>
                <a:cs typeface="Poppins Semi-Bold"/>
                <a:sym typeface="Poppins Semi-Bold"/>
              </a:rPr>
              <a:t>Problem Statement</a:t>
            </a:r>
          </a:p>
        </p:txBody>
      </p:sp>
      <p:sp>
        <p:nvSpPr>
          <p:cNvPr id="8" name="TextBox 8"/>
          <p:cNvSpPr txBox="1"/>
          <p:nvPr/>
        </p:nvSpPr>
        <p:spPr>
          <a:xfrm>
            <a:off x="1028700" y="2092325"/>
            <a:ext cx="7844362" cy="2658248"/>
          </a:xfrm>
          <a:prstGeom prst="rect">
            <a:avLst/>
          </a:prstGeom>
        </p:spPr>
        <p:txBody>
          <a:bodyPr lIns="0" tIns="0" rIns="0" bIns="0" rtlCol="0" anchor="t">
            <a:spAutoFit/>
          </a:bodyPr>
          <a:lstStyle/>
          <a:p>
            <a:pPr algn="l">
              <a:lnSpc>
                <a:spcPts val="3561"/>
              </a:lnSpc>
            </a:pPr>
            <a:r>
              <a:rPr lang="en-US" sz="2544" dirty="0">
                <a:solidFill>
                  <a:srgbClr val="1E293B"/>
                </a:solidFill>
                <a:latin typeface="Open Sans"/>
                <a:ea typeface="Open Sans"/>
                <a:cs typeface="Open Sans"/>
                <a:sym typeface="Open Sans"/>
              </a:rPr>
              <a:t>Healthcare organizations generate large volumes of prescription data, making manual analysis difficult and time-consuming. This project provides an automated solution to analyze prescription records, visualize trends, and generate actionable healthcare insights efficiently.</a:t>
            </a:r>
          </a:p>
        </p:txBody>
      </p:sp>
      <p:sp>
        <p:nvSpPr>
          <p:cNvPr id="9" name="TextBox 9"/>
          <p:cNvSpPr txBox="1"/>
          <p:nvPr/>
        </p:nvSpPr>
        <p:spPr>
          <a:xfrm>
            <a:off x="9144000" y="6645275"/>
            <a:ext cx="8115300" cy="2613025"/>
          </a:xfrm>
          <a:prstGeom prst="rect">
            <a:avLst/>
          </a:prstGeom>
        </p:spPr>
        <p:txBody>
          <a:bodyPr lIns="0" tIns="0" rIns="0" bIns="0" rtlCol="0" anchor="t">
            <a:spAutoFit/>
          </a:bodyPr>
          <a:lstStyle/>
          <a:p>
            <a:pPr algn="l">
              <a:lnSpc>
                <a:spcPts val="3499"/>
              </a:lnSpc>
            </a:pPr>
            <a:r>
              <a:rPr lang="en-US" sz="2499" dirty="0">
                <a:solidFill>
                  <a:srgbClr val="1E293B"/>
                </a:solidFill>
                <a:latin typeface="Open Sans"/>
                <a:ea typeface="Open Sans"/>
                <a:cs typeface="Open Sans"/>
                <a:sym typeface="Open Sans"/>
              </a:rPr>
              <a:t>Digital Prescription Record Analysis is a healthcare data analytics project that analyzes prescription records to identify trends, patterns, and insights. Using Python, MySQL, and data visualization, the system transforms raw healthcare data into meaningful reports for better decision-making.</a:t>
            </a:r>
          </a:p>
        </p:txBody>
      </p:sp>
      <p:sp>
        <p:nvSpPr>
          <p:cNvPr id="10" name="TextBox 10"/>
          <p:cNvSpPr txBox="1"/>
          <p:nvPr/>
        </p:nvSpPr>
        <p:spPr>
          <a:xfrm>
            <a:off x="9144000" y="5496946"/>
            <a:ext cx="6810061" cy="701681"/>
          </a:xfrm>
          <a:prstGeom prst="rect">
            <a:avLst/>
          </a:prstGeom>
        </p:spPr>
        <p:txBody>
          <a:bodyPr lIns="0" tIns="0" rIns="0" bIns="0" rtlCol="0" anchor="t">
            <a:spAutoFit/>
          </a:bodyPr>
          <a:lstStyle/>
          <a:p>
            <a:pPr algn="l">
              <a:lnSpc>
                <a:spcPts val="4900"/>
              </a:lnSpc>
            </a:pPr>
            <a:r>
              <a:rPr lang="en-US" sz="5000" b="1">
                <a:solidFill>
                  <a:srgbClr val="1E293B"/>
                </a:solidFill>
                <a:latin typeface="Poppins Semi-Bold"/>
                <a:ea typeface="Poppins Semi-Bold"/>
                <a:cs typeface="Poppins Semi-Bold"/>
                <a:sym typeface="Poppins Semi-Bold"/>
              </a:rPr>
              <a:t>Project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34665"/>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214641" y="1104900"/>
            <a:ext cx="6702941" cy="938839"/>
          </a:xfrm>
          <a:prstGeom prst="rect">
            <a:avLst/>
          </a:prstGeom>
        </p:spPr>
        <p:txBody>
          <a:bodyPr lIns="0" tIns="0" rIns="0" bIns="0" rtlCol="0" anchor="t">
            <a:spAutoFit/>
          </a:bodyPr>
          <a:lstStyle/>
          <a:p>
            <a:pPr algn="l">
              <a:lnSpc>
                <a:spcPts val="6554"/>
              </a:lnSpc>
            </a:pPr>
            <a:r>
              <a:rPr lang="en-US" sz="6688" b="1">
                <a:solidFill>
                  <a:srgbClr val="1E293B"/>
                </a:solidFill>
                <a:latin typeface="Poppins Semi-Bold"/>
                <a:ea typeface="Poppins Semi-Bold"/>
                <a:cs typeface="Poppins Semi-Bold"/>
                <a:sym typeface="Poppins Semi-Bold"/>
              </a:rPr>
              <a:t>Project Scope</a:t>
            </a:r>
          </a:p>
        </p:txBody>
      </p:sp>
      <p:grpSp>
        <p:nvGrpSpPr>
          <p:cNvPr id="7" name="Group 7"/>
          <p:cNvGrpSpPr/>
          <p:nvPr/>
        </p:nvGrpSpPr>
        <p:grpSpPr>
          <a:xfrm>
            <a:off x="6349619" y="3159518"/>
            <a:ext cx="10909681" cy="6474868"/>
            <a:chOff x="0" y="0"/>
            <a:chExt cx="2873332" cy="1705315"/>
          </a:xfrm>
        </p:grpSpPr>
        <p:sp>
          <p:nvSpPr>
            <p:cNvPr id="8" name="Freeform 8"/>
            <p:cNvSpPr/>
            <p:nvPr/>
          </p:nvSpPr>
          <p:spPr>
            <a:xfrm>
              <a:off x="0" y="0"/>
              <a:ext cx="2873332" cy="1705315"/>
            </a:xfrm>
            <a:custGeom>
              <a:avLst/>
              <a:gdLst/>
              <a:ahLst/>
              <a:cxnLst/>
              <a:rect l="l" t="t" r="r" b="b"/>
              <a:pathLst>
                <a:path w="2873332" h="1705315">
                  <a:moveTo>
                    <a:pt x="10645" y="0"/>
                  </a:moveTo>
                  <a:lnTo>
                    <a:pt x="2862687" y="0"/>
                  </a:lnTo>
                  <a:cubicBezTo>
                    <a:pt x="2868566" y="0"/>
                    <a:pt x="2873332" y="4766"/>
                    <a:pt x="2873332" y="10645"/>
                  </a:cubicBezTo>
                  <a:lnTo>
                    <a:pt x="2873332" y="1694671"/>
                  </a:lnTo>
                  <a:cubicBezTo>
                    <a:pt x="2873332" y="1700549"/>
                    <a:pt x="2868566" y="1705315"/>
                    <a:pt x="2862687" y="1705315"/>
                  </a:cubicBezTo>
                  <a:lnTo>
                    <a:pt x="10645" y="1705315"/>
                  </a:lnTo>
                  <a:cubicBezTo>
                    <a:pt x="7821" y="1705315"/>
                    <a:pt x="5114" y="1704194"/>
                    <a:pt x="3118" y="1702197"/>
                  </a:cubicBezTo>
                  <a:cubicBezTo>
                    <a:pt x="1121" y="1700201"/>
                    <a:pt x="0" y="1697494"/>
                    <a:pt x="0" y="1694671"/>
                  </a:cubicBezTo>
                  <a:lnTo>
                    <a:pt x="0" y="10645"/>
                  </a:lnTo>
                  <a:cubicBezTo>
                    <a:pt x="0" y="7821"/>
                    <a:pt x="1121" y="5114"/>
                    <a:pt x="3118" y="3118"/>
                  </a:cubicBezTo>
                  <a:cubicBezTo>
                    <a:pt x="5114" y="1121"/>
                    <a:pt x="7821" y="0"/>
                    <a:pt x="10645" y="0"/>
                  </a:cubicBezTo>
                  <a:close/>
                </a:path>
              </a:pathLst>
            </a:custGeom>
            <a:gradFill rotWithShape="1">
              <a:gsLst>
                <a:gs pos="0">
                  <a:srgbClr val="BFD9F9">
                    <a:alpha val="100000"/>
                  </a:srgbClr>
                </a:gs>
                <a:gs pos="100000">
                  <a:srgbClr val="F4F9FD">
                    <a:alpha val="100000"/>
                  </a:srgbClr>
                </a:gs>
              </a:gsLst>
              <a:lin ang="5400000"/>
            </a:gradFill>
          </p:spPr>
        </p:sp>
        <p:sp>
          <p:nvSpPr>
            <p:cNvPr id="9" name="TextBox 9"/>
            <p:cNvSpPr txBox="1"/>
            <p:nvPr/>
          </p:nvSpPr>
          <p:spPr>
            <a:xfrm>
              <a:off x="0" y="-47625"/>
              <a:ext cx="2873332" cy="1752940"/>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6952208" y="3506630"/>
            <a:ext cx="9595167" cy="815978"/>
            <a:chOff x="0" y="0"/>
            <a:chExt cx="2527122" cy="214908"/>
          </a:xfrm>
        </p:grpSpPr>
        <p:sp>
          <p:nvSpPr>
            <p:cNvPr id="11" name="Freeform 11"/>
            <p:cNvSpPr/>
            <p:nvPr/>
          </p:nvSpPr>
          <p:spPr>
            <a:xfrm>
              <a:off x="0" y="0"/>
              <a:ext cx="2527122" cy="214908"/>
            </a:xfrm>
            <a:custGeom>
              <a:avLst/>
              <a:gdLst/>
              <a:ahLst/>
              <a:cxnLst/>
              <a:rect l="l" t="t" r="r" b="b"/>
              <a:pathLst>
                <a:path w="2527122" h="214908">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id="12" name="TextBox 12"/>
            <p:cNvSpPr txBox="1"/>
            <p:nvPr/>
          </p:nvSpPr>
          <p:spPr>
            <a:xfrm>
              <a:off x="0" y="-47625"/>
              <a:ext cx="2527122" cy="262533"/>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6952208" y="4735511"/>
            <a:ext cx="9595167" cy="815978"/>
            <a:chOff x="0" y="0"/>
            <a:chExt cx="2527122" cy="214908"/>
          </a:xfrm>
        </p:grpSpPr>
        <p:sp>
          <p:nvSpPr>
            <p:cNvPr id="14" name="Freeform 14"/>
            <p:cNvSpPr/>
            <p:nvPr/>
          </p:nvSpPr>
          <p:spPr>
            <a:xfrm>
              <a:off x="0" y="0"/>
              <a:ext cx="2527122" cy="214908"/>
            </a:xfrm>
            <a:custGeom>
              <a:avLst/>
              <a:gdLst/>
              <a:ahLst/>
              <a:cxnLst/>
              <a:rect l="l" t="t" r="r" b="b"/>
              <a:pathLst>
                <a:path w="2527122" h="214908">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id="15" name="TextBox 15"/>
            <p:cNvSpPr txBox="1"/>
            <p:nvPr/>
          </p:nvSpPr>
          <p:spPr>
            <a:xfrm>
              <a:off x="0" y="-47625"/>
              <a:ext cx="2527122" cy="262533"/>
            </a:xfrm>
            <a:prstGeom prst="rect">
              <a:avLst/>
            </a:prstGeom>
          </p:spPr>
          <p:txBody>
            <a:bodyPr lIns="50800" tIns="50800" rIns="50800" bIns="50800" rtlCol="0" anchor="ctr"/>
            <a:lstStyle/>
            <a:p>
              <a:pPr algn="ctr">
                <a:lnSpc>
                  <a:spcPts val="3499"/>
                </a:lnSpc>
              </a:pPr>
              <a:endParaRPr/>
            </a:p>
          </p:txBody>
        </p:sp>
      </p:grpSp>
      <p:grpSp>
        <p:nvGrpSpPr>
          <p:cNvPr id="16" name="Group 16"/>
          <p:cNvGrpSpPr/>
          <p:nvPr/>
        </p:nvGrpSpPr>
        <p:grpSpPr>
          <a:xfrm>
            <a:off x="6952208" y="5988963"/>
            <a:ext cx="9595167" cy="815978"/>
            <a:chOff x="0" y="0"/>
            <a:chExt cx="2527122" cy="214908"/>
          </a:xfrm>
        </p:grpSpPr>
        <p:sp>
          <p:nvSpPr>
            <p:cNvPr id="17" name="Freeform 17"/>
            <p:cNvSpPr/>
            <p:nvPr/>
          </p:nvSpPr>
          <p:spPr>
            <a:xfrm>
              <a:off x="0" y="0"/>
              <a:ext cx="2527122" cy="214908"/>
            </a:xfrm>
            <a:custGeom>
              <a:avLst/>
              <a:gdLst/>
              <a:ahLst/>
              <a:cxnLst/>
              <a:rect l="l" t="t" r="r" b="b"/>
              <a:pathLst>
                <a:path w="2527122" h="214908">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id="18" name="TextBox 18"/>
            <p:cNvSpPr txBox="1"/>
            <p:nvPr/>
          </p:nvSpPr>
          <p:spPr>
            <a:xfrm>
              <a:off x="0" y="-47625"/>
              <a:ext cx="2527122" cy="262533"/>
            </a:xfrm>
            <a:prstGeom prst="rect">
              <a:avLst/>
            </a:prstGeom>
          </p:spPr>
          <p:txBody>
            <a:bodyPr lIns="50800" tIns="50800" rIns="50800" bIns="50800" rtlCol="0" anchor="ctr"/>
            <a:lstStyle/>
            <a:p>
              <a:pPr algn="ctr">
                <a:lnSpc>
                  <a:spcPts val="3499"/>
                </a:lnSpc>
              </a:pPr>
              <a:endParaRPr/>
            </a:p>
          </p:txBody>
        </p:sp>
      </p:grpSp>
      <p:grpSp>
        <p:nvGrpSpPr>
          <p:cNvPr id="19" name="Group 19"/>
          <p:cNvGrpSpPr/>
          <p:nvPr/>
        </p:nvGrpSpPr>
        <p:grpSpPr>
          <a:xfrm>
            <a:off x="6952208" y="7243091"/>
            <a:ext cx="9595167" cy="815978"/>
            <a:chOff x="0" y="0"/>
            <a:chExt cx="2527122" cy="214908"/>
          </a:xfrm>
        </p:grpSpPr>
        <p:sp>
          <p:nvSpPr>
            <p:cNvPr id="20" name="Freeform 20"/>
            <p:cNvSpPr/>
            <p:nvPr/>
          </p:nvSpPr>
          <p:spPr>
            <a:xfrm>
              <a:off x="0" y="0"/>
              <a:ext cx="2527122" cy="214908"/>
            </a:xfrm>
            <a:custGeom>
              <a:avLst/>
              <a:gdLst/>
              <a:ahLst/>
              <a:cxnLst/>
              <a:rect l="l" t="t" r="r" b="b"/>
              <a:pathLst>
                <a:path w="2527122" h="214908">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id="21" name="TextBox 21"/>
            <p:cNvSpPr txBox="1"/>
            <p:nvPr/>
          </p:nvSpPr>
          <p:spPr>
            <a:xfrm>
              <a:off x="0" y="-47625"/>
              <a:ext cx="2527122" cy="262533"/>
            </a:xfrm>
            <a:prstGeom prst="rect">
              <a:avLst/>
            </a:prstGeom>
          </p:spPr>
          <p:txBody>
            <a:bodyPr lIns="50800" tIns="50800" rIns="50800" bIns="50800" rtlCol="0" anchor="ctr"/>
            <a:lstStyle/>
            <a:p>
              <a:pPr algn="ctr">
                <a:lnSpc>
                  <a:spcPts val="3499"/>
                </a:lnSpc>
              </a:pPr>
              <a:endParaRPr/>
            </a:p>
          </p:txBody>
        </p:sp>
      </p:grpSp>
      <p:grpSp>
        <p:nvGrpSpPr>
          <p:cNvPr id="22" name="Group 22"/>
          <p:cNvGrpSpPr/>
          <p:nvPr/>
        </p:nvGrpSpPr>
        <p:grpSpPr>
          <a:xfrm>
            <a:off x="367633" y="3325805"/>
            <a:ext cx="4720422" cy="6961196"/>
            <a:chOff x="0" y="0"/>
            <a:chExt cx="731317" cy="665878"/>
          </a:xfrm>
        </p:grpSpPr>
        <p:sp>
          <p:nvSpPr>
            <p:cNvPr id="23" name="Freeform 23"/>
            <p:cNvSpPr/>
            <p:nvPr/>
          </p:nvSpPr>
          <p:spPr>
            <a:xfrm>
              <a:off x="0" y="0"/>
              <a:ext cx="731317" cy="665878"/>
            </a:xfrm>
            <a:custGeom>
              <a:avLst/>
              <a:gdLst/>
              <a:ahLst/>
              <a:cxnLst/>
              <a:rect l="l" t="t" r="r" b="b"/>
              <a:pathLst>
                <a:path w="731317" h="665878">
                  <a:moveTo>
                    <a:pt x="22961" y="0"/>
                  </a:moveTo>
                  <a:lnTo>
                    <a:pt x="708356" y="0"/>
                  </a:lnTo>
                  <a:cubicBezTo>
                    <a:pt x="714445" y="0"/>
                    <a:pt x="720286" y="2419"/>
                    <a:pt x="724592" y="6725"/>
                  </a:cubicBezTo>
                  <a:cubicBezTo>
                    <a:pt x="728898" y="11031"/>
                    <a:pt x="731317" y="16872"/>
                    <a:pt x="731317" y="22961"/>
                  </a:cubicBezTo>
                  <a:lnTo>
                    <a:pt x="731317" y="642917"/>
                  </a:lnTo>
                  <a:cubicBezTo>
                    <a:pt x="731317" y="649007"/>
                    <a:pt x="728898" y="654847"/>
                    <a:pt x="724592" y="659153"/>
                  </a:cubicBezTo>
                  <a:cubicBezTo>
                    <a:pt x="720286" y="663459"/>
                    <a:pt x="714445" y="665878"/>
                    <a:pt x="708356" y="665878"/>
                  </a:cubicBezTo>
                  <a:lnTo>
                    <a:pt x="22961" y="665878"/>
                  </a:lnTo>
                  <a:cubicBezTo>
                    <a:pt x="16872" y="665878"/>
                    <a:pt x="11031" y="663459"/>
                    <a:pt x="6725" y="659153"/>
                  </a:cubicBezTo>
                  <a:cubicBezTo>
                    <a:pt x="2419" y="654847"/>
                    <a:pt x="0" y="649007"/>
                    <a:pt x="0" y="642917"/>
                  </a:cubicBezTo>
                  <a:lnTo>
                    <a:pt x="0" y="22961"/>
                  </a:lnTo>
                  <a:cubicBezTo>
                    <a:pt x="0" y="16872"/>
                    <a:pt x="2419" y="11031"/>
                    <a:pt x="6725" y="6725"/>
                  </a:cubicBezTo>
                  <a:cubicBezTo>
                    <a:pt x="11031" y="2419"/>
                    <a:pt x="16872" y="0"/>
                    <a:pt x="22961" y="0"/>
                  </a:cubicBezTo>
                  <a:close/>
                </a:path>
              </a:pathLst>
            </a:custGeom>
            <a:blipFill>
              <a:blip r:embed="rId3"/>
              <a:stretch>
                <a:fillRect l="-18226" r="-18226"/>
              </a:stretch>
            </a:blipFill>
          </p:spPr>
        </p:sp>
      </p:grpSp>
      <p:grpSp>
        <p:nvGrpSpPr>
          <p:cNvPr id="24" name="Group 24"/>
          <p:cNvGrpSpPr/>
          <p:nvPr/>
        </p:nvGrpSpPr>
        <p:grpSpPr>
          <a:xfrm>
            <a:off x="14242303" y="-4010110"/>
            <a:ext cx="4253884" cy="5474178"/>
            <a:chOff x="0" y="0"/>
            <a:chExt cx="477287" cy="614205"/>
          </a:xfrm>
        </p:grpSpPr>
        <p:sp>
          <p:nvSpPr>
            <p:cNvPr id="25" name="Freeform 25"/>
            <p:cNvSpPr/>
            <p:nvPr/>
          </p:nvSpPr>
          <p:spPr>
            <a:xfrm>
              <a:off x="0" y="0"/>
              <a:ext cx="477287" cy="614205"/>
            </a:xfrm>
            <a:custGeom>
              <a:avLst/>
              <a:gdLst/>
              <a:ahLst/>
              <a:cxnLst/>
              <a:rect l="l" t="t" r="r" b="b"/>
              <a:pathLst>
                <a:path w="477287" h="614205">
                  <a:moveTo>
                    <a:pt x="238644" y="0"/>
                  </a:moveTo>
                  <a:cubicBezTo>
                    <a:pt x="106844" y="0"/>
                    <a:pt x="0" y="137494"/>
                    <a:pt x="0" y="307102"/>
                  </a:cubicBezTo>
                  <a:cubicBezTo>
                    <a:pt x="0" y="476710"/>
                    <a:pt x="106844" y="614205"/>
                    <a:pt x="238644" y="614205"/>
                  </a:cubicBezTo>
                  <a:cubicBezTo>
                    <a:pt x="370443" y="614205"/>
                    <a:pt x="477287" y="476710"/>
                    <a:pt x="477287" y="307102"/>
                  </a:cubicBezTo>
                  <a:cubicBezTo>
                    <a:pt x="477287" y="137494"/>
                    <a:pt x="370443" y="0"/>
                    <a:pt x="238644"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id="26" name="TextBox 26"/>
            <p:cNvSpPr txBox="1"/>
            <p:nvPr/>
          </p:nvSpPr>
          <p:spPr>
            <a:xfrm>
              <a:off x="44746" y="9957"/>
              <a:ext cx="387796" cy="546666"/>
            </a:xfrm>
            <a:prstGeom prst="rect">
              <a:avLst/>
            </a:prstGeom>
          </p:spPr>
          <p:txBody>
            <a:bodyPr lIns="50800" tIns="50800" rIns="50800" bIns="50800" rtlCol="0" anchor="ctr"/>
            <a:lstStyle/>
            <a:p>
              <a:pPr algn="ctr">
                <a:lnSpc>
                  <a:spcPts val="3499"/>
                </a:lnSpc>
              </a:pPr>
              <a:endParaRPr/>
            </a:p>
          </p:txBody>
        </p:sp>
      </p:grpSp>
      <p:sp>
        <p:nvSpPr>
          <p:cNvPr id="27" name="TextBox 27"/>
          <p:cNvSpPr txBox="1"/>
          <p:nvPr/>
        </p:nvSpPr>
        <p:spPr>
          <a:xfrm>
            <a:off x="7107046" y="3679669"/>
            <a:ext cx="8705506" cy="422275"/>
          </a:xfrm>
          <a:prstGeom prst="rect">
            <a:avLst/>
          </a:prstGeom>
        </p:spPr>
        <p:txBody>
          <a:bodyPr lIns="0" tIns="0" rIns="0" bIns="0" rtlCol="0" anchor="t">
            <a:spAutoFit/>
          </a:bodyPr>
          <a:lstStyle/>
          <a:p>
            <a:pPr algn="ctr">
              <a:lnSpc>
                <a:spcPts val="3499"/>
              </a:lnSpc>
            </a:pPr>
            <a:r>
              <a:rPr lang="en-US" sz="2499" b="1">
                <a:solidFill>
                  <a:srgbClr val="000000"/>
                </a:solidFill>
                <a:latin typeface="Open Sans Bold"/>
                <a:ea typeface="Open Sans Bold"/>
                <a:cs typeface="Open Sans Bold"/>
                <a:sym typeface="Open Sans Bold"/>
              </a:rPr>
              <a:t>Analyze patient and prescription data.</a:t>
            </a:r>
          </a:p>
        </p:txBody>
      </p:sp>
      <p:sp>
        <p:nvSpPr>
          <p:cNvPr id="28" name="TextBox 28"/>
          <p:cNvSpPr txBox="1"/>
          <p:nvPr/>
        </p:nvSpPr>
        <p:spPr>
          <a:xfrm>
            <a:off x="7264303" y="4908550"/>
            <a:ext cx="8705506" cy="422275"/>
          </a:xfrm>
          <a:prstGeom prst="rect">
            <a:avLst/>
          </a:prstGeom>
        </p:spPr>
        <p:txBody>
          <a:bodyPr lIns="0" tIns="0" rIns="0" bIns="0" rtlCol="0" anchor="t">
            <a:spAutoFit/>
          </a:bodyPr>
          <a:lstStyle/>
          <a:p>
            <a:pPr algn="ctr">
              <a:lnSpc>
                <a:spcPts val="3499"/>
              </a:lnSpc>
            </a:pPr>
            <a:r>
              <a:rPr lang="en-US" sz="2499" b="1">
                <a:solidFill>
                  <a:srgbClr val="000000"/>
                </a:solidFill>
                <a:latin typeface="Open Sans Bold"/>
                <a:ea typeface="Open Sans Bold"/>
                <a:cs typeface="Open Sans Bold"/>
                <a:sym typeface="Open Sans Bold"/>
              </a:rPr>
              <a:t>Study doctor specialty and experience trends.</a:t>
            </a:r>
          </a:p>
        </p:txBody>
      </p:sp>
      <p:sp>
        <p:nvSpPr>
          <p:cNvPr id="29" name="TextBox 29"/>
          <p:cNvSpPr txBox="1"/>
          <p:nvPr/>
        </p:nvSpPr>
        <p:spPr>
          <a:xfrm>
            <a:off x="7551877" y="6142039"/>
            <a:ext cx="8705506" cy="422275"/>
          </a:xfrm>
          <a:prstGeom prst="rect">
            <a:avLst/>
          </a:prstGeom>
        </p:spPr>
        <p:txBody>
          <a:bodyPr lIns="0" tIns="0" rIns="0" bIns="0" rtlCol="0" anchor="t">
            <a:spAutoFit/>
          </a:bodyPr>
          <a:lstStyle/>
          <a:p>
            <a:pPr algn="ctr">
              <a:lnSpc>
                <a:spcPts val="3499"/>
              </a:lnSpc>
            </a:pPr>
            <a:r>
              <a:rPr lang="en-US" sz="2499" b="1">
                <a:solidFill>
                  <a:srgbClr val="000000"/>
                </a:solidFill>
                <a:latin typeface="Open Sans Bold"/>
                <a:ea typeface="Open Sans Bold"/>
                <a:cs typeface="Open Sans Bold"/>
                <a:sym typeface="Open Sans Bold"/>
              </a:rPr>
              <a:t>Create visual reports and charts.</a:t>
            </a:r>
          </a:p>
        </p:txBody>
      </p:sp>
      <p:sp>
        <p:nvSpPr>
          <p:cNvPr id="30" name="TextBox 30"/>
          <p:cNvSpPr txBox="1"/>
          <p:nvPr/>
        </p:nvSpPr>
        <p:spPr>
          <a:xfrm>
            <a:off x="7451707" y="7367592"/>
            <a:ext cx="8705506" cy="422275"/>
          </a:xfrm>
          <a:prstGeom prst="rect">
            <a:avLst/>
          </a:prstGeom>
        </p:spPr>
        <p:txBody>
          <a:bodyPr lIns="0" tIns="0" rIns="0" bIns="0" rtlCol="0" anchor="t">
            <a:spAutoFit/>
          </a:bodyPr>
          <a:lstStyle/>
          <a:p>
            <a:pPr algn="ctr">
              <a:lnSpc>
                <a:spcPts val="3499"/>
              </a:lnSpc>
            </a:pPr>
            <a:r>
              <a:rPr lang="en-US" sz="2499" b="1">
                <a:solidFill>
                  <a:srgbClr val="000000"/>
                </a:solidFill>
                <a:latin typeface="Open Sans Bold"/>
                <a:ea typeface="Open Sans Bold"/>
                <a:cs typeface="Open Sans Bold"/>
                <a:sym typeface="Open Sans Bold"/>
              </a:rPr>
              <a:t>Store and manage records using MySQL.</a:t>
            </a:r>
          </a:p>
        </p:txBody>
      </p:sp>
      <p:grpSp>
        <p:nvGrpSpPr>
          <p:cNvPr id="31" name="Group 31"/>
          <p:cNvGrpSpPr/>
          <p:nvPr/>
        </p:nvGrpSpPr>
        <p:grpSpPr>
          <a:xfrm>
            <a:off x="6952208" y="8497219"/>
            <a:ext cx="9595167" cy="815978"/>
            <a:chOff x="0" y="0"/>
            <a:chExt cx="2527122" cy="214908"/>
          </a:xfrm>
        </p:grpSpPr>
        <p:sp>
          <p:nvSpPr>
            <p:cNvPr id="32" name="Freeform 32"/>
            <p:cNvSpPr/>
            <p:nvPr/>
          </p:nvSpPr>
          <p:spPr>
            <a:xfrm>
              <a:off x="0" y="0"/>
              <a:ext cx="2527122" cy="214908"/>
            </a:xfrm>
            <a:custGeom>
              <a:avLst/>
              <a:gdLst/>
              <a:ahLst/>
              <a:cxnLst/>
              <a:rect l="l" t="t" r="r" b="b"/>
              <a:pathLst>
                <a:path w="2527122" h="214908">
                  <a:moveTo>
                    <a:pt x="40343" y="0"/>
                  </a:moveTo>
                  <a:lnTo>
                    <a:pt x="2486779" y="0"/>
                  </a:lnTo>
                  <a:cubicBezTo>
                    <a:pt x="2509060" y="0"/>
                    <a:pt x="2527122" y="18062"/>
                    <a:pt x="2527122" y="40343"/>
                  </a:cubicBezTo>
                  <a:lnTo>
                    <a:pt x="2527122" y="174565"/>
                  </a:lnTo>
                  <a:cubicBezTo>
                    <a:pt x="2527122" y="196846"/>
                    <a:pt x="2509060" y="214908"/>
                    <a:pt x="2486779" y="214908"/>
                  </a:cubicBezTo>
                  <a:lnTo>
                    <a:pt x="40343" y="214908"/>
                  </a:lnTo>
                  <a:cubicBezTo>
                    <a:pt x="18062" y="214908"/>
                    <a:pt x="0" y="196846"/>
                    <a:pt x="0" y="174565"/>
                  </a:cubicBezTo>
                  <a:lnTo>
                    <a:pt x="0" y="40343"/>
                  </a:lnTo>
                  <a:cubicBezTo>
                    <a:pt x="0" y="18062"/>
                    <a:pt x="18062" y="0"/>
                    <a:pt x="40343" y="0"/>
                  </a:cubicBezTo>
                  <a:close/>
                </a:path>
              </a:pathLst>
            </a:custGeom>
            <a:solidFill>
              <a:srgbClr val="60A5FA"/>
            </a:solidFill>
          </p:spPr>
        </p:sp>
        <p:sp>
          <p:nvSpPr>
            <p:cNvPr id="33" name="TextBox 33"/>
            <p:cNvSpPr txBox="1"/>
            <p:nvPr/>
          </p:nvSpPr>
          <p:spPr>
            <a:xfrm>
              <a:off x="0" y="-47625"/>
              <a:ext cx="2527122" cy="262533"/>
            </a:xfrm>
            <a:prstGeom prst="rect">
              <a:avLst/>
            </a:prstGeom>
          </p:spPr>
          <p:txBody>
            <a:bodyPr lIns="50800" tIns="50800" rIns="50800" bIns="50800" rtlCol="0" anchor="ctr"/>
            <a:lstStyle/>
            <a:p>
              <a:pPr algn="ctr">
                <a:lnSpc>
                  <a:spcPts val="3499"/>
                </a:lnSpc>
              </a:pPr>
              <a:endParaRPr/>
            </a:p>
          </p:txBody>
        </p:sp>
      </p:grpSp>
      <p:sp>
        <p:nvSpPr>
          <p:cNvPr id="34" name="TextBox 34"/>
          <p:cNvSpPr txBox="1"/>
          <p:nvPr/>
        </p:nvSpPr>
        <p:spPr>
          <a:xfrm>
            <a:off x="7397039" y="8687719"/>
            <a:ext cx="8705506" cy="422275"/>
          </a:xfrm>
          <a:prstGeom prst="rect">
            <a:avLst/>
          </a:prstGeom>
        </p:spPr>
        <p:txBody>
          <a:bodyPr lIns="0" tIns="0" rIns="0" bIns="0" rtlCol="0" anchor="t">
            <a:spAutoFit/>
          </a:bodyPr>
          <a:lstStyle/>
          <a:p>
            <a:pPr algn="ctr">
              <a:lnSpc>
                <a:spcPts val="3499"/>
              </a:lnSpc>
            </a:pPr>
            <a:r>
              <a:rPr lang="en-US" sz="2499" b="1">
                <a:solidFill>
                  <a:srgbClr val="000000"/>
                </a:solidFill>
                <a:latin typeface="Open Sans Bold"/>
                <a:ea typeface="Open Sans Bold"/>
                <a:cs typeface="Open Sans Bold"/>
                <a:sym typeface="Open Sans Bold"/>
              </a:rPr>
              <a:t>Provide insights for healthcare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5143500"/>
            <a:ext cx="3928440" cy="2009215"/>
            <a:chOff x="0" y="0"/>
            <a:chExt cx="1034651" cy="529176"/>
          </a:xfrm>
        </p:grpSpPr>
        <p:sp>
          <p:nvSpPr>
            <p:cNvPr id="7" name="Freeform 7"/>
            <p:cNvSpPr/>
            <p:nvPr/>
          </p:nvSpPr>
          <p:spPr>
            <a:xfrm>
              <a:off x="0" y="0"/>
              <a:ext cx="1034651" cy="529176"/>
            </a:xfrm>
            <a:custGeom>
              <a:avLst/>
              <a:gdLst/>
              <a:ahLst/>
              <a:cxnLst/>
              <a:rect l="l" t="t" r="r" b="b"/>
              <a:pathLst>
                <a:path w="1034651" h="529176">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id="8" name="TextBox 8"/>
            <p:cNvSpPr txBox="1"/>
            <p:nvPr/>
          </p:nvSpPr>
          <p:spPr>
            <a:xfrm>
              <a:off x="0" y="-47625"/>
              <a:ext cx="1034651" cy="576801"/>
            </a:xfrm>
            <a:prstGeom prst="rect">
              <a:avLst/>
            </a:prstGeom>
          </p:spPr>
          <p:txBody>
            <a:bodyPr lIns="50800" tIns="50800" rIns="50800" bIns="50800" rtlCol="0" anchor="ctr"/>
            <a:lstStyle/>
            <a:p>
              <a:pPr algn="ctr">
                <a:lnSpc>
                  <a:spcPts val="3499"/>
                </a:lnSpc>
              </a:pPr>
              <a:endParaRPr/>
            </a:p>
          </p:txBody>
        </p:sp>
      </p:grpSp>
      <p:grpSp>
        <p:nvGrpSpPr>
          <p:cNvPr id="9" name="Group 9"/>
          <p:cNvGrpSpPr/>
          <p:nvPr/>
        </p:nvGrpSpPr>
        <p:grpSpPr>
          <a:xfrm>
            <a:off x="5128590" y="5143500"/>
            <a:ext cx="3928440" cy="2009215"/>
            <a:chOff x="0" y="0"/>
            <a:chExt cx="1034651" cy="529176"/>
          </a:xfrm>
        </p:grpSpPr>
        <p:sp>
          <p:nvSpPr>
            <p:cNvPr id="10" name="Freeform 10"/>
            <p:cNvSpPr/>
            <p:nvPr/>
          </p:nvSpPr>
          <p:spPr>
            <a:xfrm>
              <a:off x="0" y="0"/>
              <a:ext cx="1034651" cy="529176"/>
            </a:xfrm>
            <a:custGeom>
              <a:avLst/>
              <a:gdLst/>
              <a:ahLst/>
              <a:cxnLst/>
              <a:rect l="l" t="t" r="r" b="b"/>
              <a:pathLst>
                <a:path w="1034651" h="529176">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id="11" name="TextBox 11"/>
            <p:cNvSpPr txBox="1"/>
            <p:nvPr/>
          </p:nvSpPr>
          <p:spPr>
            <a:xfrm>
              <a:off x="0" y="-47625"/>
              <a:ext cx="1034651" cy="576801"/>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9228481" y="5143500"/>
            <a:ext cx="3928440" cy="2009215"/>
            <a:chOff x="0" y="0"/>
            <a:chExt cx="1034651" cy="529176"/>
          </a:xfrm>
        </p:grpSpPr>
        <p:sp>
          <p:nvSpPr>
            <p:cNvPr id="13" name="Freeform 13"/>
            <p:cNvSpPr/>
            <p:nvPr/>
          </p:nvSpPr>
          <p:spPr>
            <a:xfrm>
              <a:off x="0" y="0"/>
              <a:ext cx="1034651" cy="529176"/>
            </a:xfrm>
            <a:custGeom>
              <a:avLst/>
              <a:gdLst/>
              <a:ahLst/>
              <a:cxnLst/>
              <a:rect l="l" t="t" r="r" b="b"/>
              <a:pathLst>
                <a:path w="1034651" h="529176">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id="14" name="TextBox 14"/>
            <p:cNvSpPr txBox="1"/>
            <p:nvPr/>
          </p:nvSpPr>
          <p:spPr>
            <a:xfrm>
              <a:off x="0" y="-47625"/>
              <a:ext cx="1034651" cy="576801"/>
            </a:xfrm>
            <a:prstGeom prst="rect">
              <a:avLst/>
            </a:prstGeom>
          </p:spPr>
          <p:txBody>
            <a:bodyPr lIns="50800" tIns="50800" rIns="50800" bIns="50800" rtlCol="0" anchor="ctr"/>
            <a:lstStyle/>
            <a:p>
              <a:pPr algn="ctr">
                <a:lnSpc>
                  <a:spcPts val="3499"/>
                </a:lnSpc>
              </a:pPr>
              <a:endParaRPr/>
            </a:p>
          </p:txBody>
        </p:sp>
      </p:grpSp>
      <p:grpSp>
        <p:nvGrpSpPr>
          <p:cNvPr id="15" name="Group 15"/>
          <p:cNvGrpSpPr/>
          <p:nvPr/>
        </p:nvGrpSpPr>
        <p:grpSpPr>
          <a:xfrm>
            <a:off x="13330860" y="5143500"/>
            <a:ext cx="3928440" cy="2009215"/>
            <a:chOff x="0" y="0"/>
            <a:chExt cx="1034651" cy="529176"/>
          </a:xfrm>
        </p:grpSpPr>
        <p:sp>
          <p:nvSpPr>
            <p:cNvPr id="16" name="Freeform 16"/>
            <p:cNvSpPr/>
            <p:nvPr/>
          </p:nvSpPr>
          <p:spPr>
            <a:xfrm>
              <a:off x="0" y="0"/>
              <a:ext cx="1034651" cy="529176"/>
            </a:xfrm>
            <a:custGeom>
              <a:avLst/>
              <a:gdLst/>
              <a:ahLst/>
              <a:cxnLst/>
              <a:rect l="l" t="t" r="r" b="b"/>
              <a:pathLst>
                <a:path w="1034651" h="529176">
                  <a:moveTo>
                    <a:pt x="29561" y="0"/>
                  </a:moveTo>
                  <a:lnTo>
                    <a:pt x="1005090" y="0"/>
                  </a:lnTo>
                  <a:cubicBezTo>
                    <a:pt x="1012930" y="0"/>
                    <a:pt x="1020449" y="3114"/>
                    <a:pt x="1025993" y="8658"/>
                  </a:cubicBezTo>
                  <a:cubicBezTo>
                    <a:pt x="1031537" y="14202"/>
                    <a:pt x="1034651" y="21721"/>
                    <a:pt x="1034651" y="29561"/>
                  </a:cubicBezTo>
                  <a:lnTo>
                    <a:pt x="1034651" y="499615"/>
                  </a:lnTo>
                  <a:cubicBezTo>
                    <a:pt x="1034651" y="507455"/>
                    <a:pt x="1031537" y="514974"/>
                    <a:pt x="1025993" y="520518"/>
                  </a:cubicBezTo>
                  <a:cubicBezTo>
                    <a:pt x="1020449" y="526062"/>
                    <a:pt x="1012930" y="529176"/>
                    <a:pt x="1005090" y="529176"/>
                  </a:cubicBezTo>
                  <a:lnTo>
                    <a:pt x="29561" y="529176"/>
                  </a:lnTo>
                  <a:cubicBezTo>
                    <a:pt x="21721" y="529176"/>
                    <a:pt x="14202" y="526062"/>
                    <a:pt x="8658" y="520518"/>
                  </a:cubicBezTo>
                  <a:cubicBezTo>
                    <a:pt x="3114" y="514974"/>
                    <a:pt x="0" y="507455"/>
                    <a:pt x="0" y="499615"/>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id="17" name="TextBox 17"/>
            <p:cNvSpPr txBox="1"/>
            <p:nvPr/>
          </p:nvSpPr>
          <p:spPr>
            <a:xfrm>
              <a:off x="0" y="-47625"/>
              <a:ext cx="1034651" cy="576801"/>
            </a:xfrm>
            <a:prstGeom prst="rect">
              <a:avLst/>
            </a:prstGeom>
          </p:spPr>
          <p:txBody>
            <a:bodyPr lIns="50800" tIns="50800" rIns="50800" bIns="50800" rtlCol="0" anchor="ctr"/>
            <a:lstStyle/>
            <a:p>
              <a:pPr algn="ctr">
                <a:lnSpc>
                  <a:spcPts val="3499"/>
                </a:lnSpc>
              </a:pPr>
              <a:endParaRPr/>
            </a:p>
          </p:txBody>
        </p:sp>
      </p:grpSp>
      <p:grpSp>
        <p:nvGrpSpPr>
          <p:cNvPr id="18" name="Group 18"/>
          <p:cNvGrpSpPr/>
          <p:nvPr/>
        </p:nvGrpSpPr>
        <p:grpSpPr>
          <a:xfrm>
            <a:off x="1028700" y="6706187"/>
            <a:ext cx="3928440" cy="2552113"/>
            <a:chOff x="0" y="0"/>
            <a:chExt cx="1034651" cy="672161"/>
          </a:xfrm>
        </p:grpSpPr>
        <p:sp>
          <p:nvSpPr>
            <p:cNvPr id="19" name="Freeform 19"/>
            <p:cNvSpPr/>
            <p:nvPr/>
          </p:nvSpPr>
          <p:spPr>
            <a:xfrm>
              <a:off x="0" y="0"/>
              <a:ext cx="1034651" cy="672161"/>
            </a:xfrm>
            <a:custGeom>
              <a:avLst/>
              <a:gdLst/>
              <a:ahLst/>
              <a:cxnLst/>
              <a:rect l="l" t="t" r="r" b="b"/>
              <a:pathLst>
                <a:path w="1034651" h="67216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id="20" name="TextBox 20"/>
            <p:cNvSpPr txBox="1"/>
            <p:nvPr/>
          </p:nvSpPr>
          <p:spPr>
            <a:xfrm>
              <a:off x="0" y="-47625"/>
              <a:ext cx="1034651" cy="719786"/>
            </a:xfrm>
            <a:prstGeom prst="rect">
              <a:avLst/>
            </a:prstGeom>
          </p:spPr>
          <p:txBody>
            <a:bodyPr lIns="50800" tIns="50800" rIns="50800" bIns="50800" rtlCol="0" anchor="ctr"/>
            <a:lstStyle/>
            <a:p>
              <a:pPr algn="ctr">
                <a:lnSpc>
                  <a:spcPts val="3499"/>
                </a:lnSpc>
              </a:pPr>
              <a:endParaRPr/>
            </a:p>
          </p:txBody>
        </p:sp>
      </p:grpSp>
      <p:grpSp>
        <p:nvGrpSpPr>
          <p:cNvPr id="21" name="Group 21"/>
          <p:cNvGrpSpPr/>
          <p:nvPr/>
        </p:nvGrpSpPr>
        <p:grpSpPr>
          <a:xfrm>
            <a:off x="5128590" y="6706187"/>
            <a:ext cx="3928440" cy="2552113"/>
            <a:chOff x="0" y="0"/>
            <a:chExt cx="1034651" cy="672161"/>
          </a:xfrm>
        </p:grpSpPr>
        <p:sp>
          <p:nvSpPr>
            <p:cNvPr id="22" name="Freeform 22"/>
            <p:cNvSpPr/>
            <p:nvPr/>
          </p:nvSpPr>
          <p:spPr>
            <a:xfrm>
              <a:off x="0" y="0"/>
              <a:ext cx="1034651" cy="672161"/>
            </a:xfrm>
            <a:custGeom>
              <a:avLst/>
              <a:gdLst/>
              <a:ahLst/>
              <a:cxnLst/>
              <a:rect l="l" t="t" r="r" b="b"/>
              <a:pathLst>
                <a:path w="1034651" h="67216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id="23" name="TextBox 23"/>
            <p:cNvSpPr txBox="1"/>
            <p:nvPr/>
          </p:nvSpPr>
          <p:spPr>
            <a:xfrm>
              <a:off x="0" y="-47625"/>
              <a:ext cx="1034651" cy="719786"/>
            </a:xfrm>
            <a:prstGeom prst="rect">
              <a:avLst/>
            </a:prstGeom>
          </p:spPr>
          <p:txBody>
            <a:bodyPr lIns="50800" tIns="50800" rIns="50800" bIns="50800" rtlCol="0" anchor="ctr"/>
            <a:lstStyle/>
            <a:p>
              <a:pPr algn="ctr">
                <a:lnSpc>
                  <a:spcPts val="3499"/>
                </a:lnSpc>
              </a:pPr>
              <a:endParaRPr/>
            </a:p>
          </p:txBody>
        </p:sp>
      </p:grpSp>
      <p:grpSp>
        <p:nvGrpSpPr>
          <p:cNvPr id="24" name="Group 24"/>
          <p:cNvGrpSpPr/>
          <p:nvPr/>
        </p:nvGrpSpPr>
        <p:grpSpPr>
          <a:xfrm>
            <a:off x="9228481" y="6706187"/>
            <a:ext cx="3928440" cy="2552113"/>
            <a:chOff x="0" y="0"/>
            <a:chExt cx="1034651" cy="672161"/>
          </a:xfrm>
        </p:grpSpPr>
        <p:sp>
          <p:nvSpPr>
            <p:cNvPr id="25" name="Freeform 25"/>
            <p:cNvSpPr/>
            <p:nvPr/>
          </p:nvSpPr>
          <p:spPr>
            <a:xfrm>
              <a:off x="0" y="0"/>
              <a:ext cx="1034651" cy="672161"/>
            </a:xfrm>
            <a:custGeom>
              <a:avLst/>
              <a:gdLst/>
              <a:ahLst/>
              <a:cxnLst/>
              <a:rect l="l" t="t" r="r" b="b"/>
              <a:pathLst>
                <a:path w="1034651" h="67216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id="26" name="TextBox 26"/>
            <p:cNvSpPr txBox="1"/>
            <p:nvPr/>
          </p:nvSpPr>
          <p:spPr>
            <a:xfrm>
              <a:off x="0" y="-47625"/>
              <a:ext cx="1034651" cy="719786"/>
            </a:xfrm>
            <a:prstGeom prst="rect">
              <a:avLst/>
            </a:prstGeom>
          </p:spPr>
          <p:txBody>
            <a:bodyPr lIns="50800" tIns="50800" rIns="50800" bIns="50800" rtlCol="0" anchor="ctr"/>
            <a:lstStyle/>
            <a:p>
              <a:pPr algn="ctr">
                <a:lnSpc>
                  <a:spcPts val="3499"/>
                </a:lnSpc>
              </a:pPr>
              <a:endParaRPr/>
            </a:p>
          </p:txBody>
        </p:sp>
      </p:grpSp>
      <p:grpSp>
        <p:nvGrpSpPr>
          <p:cNvPr id="27" name="Group 27"/>
          <p:cNvGrpSpPr/>
          <p:nvPr/>
        </p:nvGrpSpPr>
        <p:grpSpPr>
          <a:xfrm>
            <a:off x="13330860" y="6706187"/>
            <a:ext cx="3928440" cy="2552113"/>
            <a:chOff x="0" y="0"/>
            <a:chExt cx="1034651" cy="672161"/>
          </a:xfrm>
        </p:grpSpPr>
        <p:sp>
          <p:nvSpPr>
            <p:cNvPr id="28" name="Freeform 28"/>
            <p:cNvSpPr/>
            <p:nvPr/>
          </p:nvSpPr>
          <p:spPr>
            <a:xfrm>
              <a:off x="0" y="0"/>
              <a:ext cx="1034651" cy="672161"/>
            </a:xfrm>
            <a:custGeom>
              <a:avLst/>
              <a:gdLst/>
              <a:ahLst/>
              <a:cxnLst/>
              <a:rect l="l" t="t" r="r" b="b"/>
              <a:pathLst>
                <a:path w="1034651" h="672161">
                  <a:moveTo>
                    <a:pt x="29561" y="0"/>
                  </a:moveTo>
                  <a:lnTo>
                    <a:pt x="1005090" y="0"/>
                  </a:lnTo>
                  <a:cubicBezTo>
                    <a:pt x="1012930" y="0"/>
                    <a:pt x="1020449" y="3114"/>
                    <a:pt x="1025993" y="8658"/>
                  </a:cubicBezTo>
                  <a:cubicBezTo>
                    <a:pt x="1031537" y="14202"/>
                    <a:pt x="1034651" y="21721"/>
                    <a:pt x="1034651" y="29561"/>
                  </a:cubicBezTo>
                  <a:lnTo>
                    <a:pt x="1034651" y="642600"/>
                  </a:lnTo>
                  <a:cubicBezTo>
                    <a:pt x="1034651" y="650440"/>
                    <a:pt x="1031537" y="657959"/>
                    <a:pt x="1025993" y="663503"/>
                  </a:cubicBezTo>
                  <a:cubicBezTo>
                    <a:pt x="1020449" y="669047"/>
                    <a:pt x="1012930" y="672161"/>
                    <a:pt x="1005090" y="672161"/>
                  </a:cubicBezTo>
                  <a:lnTo>
                    <a:pt x="29561" y="672161"/>
                  </a:lnTo>
                  <a:cubicBezTo>
                    <a:pt x="21721" y="672161"/>
                    <a:pt x="14202" y="669047"/>
                    <a:pt x="8658" y="663503"/>
                  </a:cubicBezTo>
                  <a:cubicBezTo>
                    <a:pt x="3114" y="657959"/>
                    <a:pt x="0" y="650440"/>
                    <a:pt x="0" y="642600"/>
                  </a:cubicBezTo>
                  <a:lnTo>
                    <a:pt x="0" y="29561"/>
                  </a:lnTo>
                  <a:cubicBezTo>
                    <a:pt x="0" y="21721"/>
                    <a:pt x="3114" y="14202"/>
                    <a:pt x="8658" y="8658"/>
                  </a:cubicBezTo>
                  <a:cubicBezTo>
                    <a:pt x="14202" y="3114"/>
                    <a:pt x="21721" y="0"/>
                    <a:pt x="29561" y="0"/>
                  </a:cubicBezTo>
                  <a:close/>
                </a:path>
              </a:pathLst>
            </a:custGeom>
            <a:solidFill>
              <a:srgbClr val="60A5FA"/>
            </a:solidFill>
          </p:spPr>
        </p:sp>
        <p:sp>
          <p:nvSpPr>
            <p:cNvPr id="29" name="TextBox 29"/>
            <p:cNvSpPr txBox="1"/>
            <p:nvPr/>
          </p:nvSpPr>
          <p:spPr>
            <a:xfrm>
              <a:off x="0" y="-47625"/>
              <a:ext cx="1034651" cy="719786"/>
            </a:xfrm>
            <a:prstGeom prst="rect">
              <a:avLst/>
            </a:prstGeom>
          </p:spPr>
          <p:txBody>
            <a:bodyPr lIns="50800" tIns="50800" rIns="50800" bIns="50800" rtlCol="0" anchor="ctr"/>
            <a:lstStyle/>
            <a:p>
              <a:pPr algn="ctr">
                <a:lnSpc>
                  <a:spcPts val="3499"/>
                </a:lnSpc>
              </a:pPr>
              <a:endParaRPr/>
            </a:p>
          </p:txBody>
        </p:sp>
      </p:grpSp>
      <p:grpSp>
        <p:nvGrpSpPr>
          <p:cNvPr id="30" name="Group 30"/>
          <p:cNvGrpSpPr/>
          <p:nvPr/>
        </p:nvGrpSpPr>
        <p:grpSpPr>
          <a:xfrm rot="-5400000">
            <a:off x="2711674" y="6480088"/>
            <a:ext cx="562492" cy="452200"/>
            <a:chOff x="0" y="0"/>
            <a:chExt cx="647700" cy="520700"/>
          </a:xfrm>
        </p:grpSpPr>
        <p:sp>
          <p:nvSpPr>
            <p:cNvPr id="31" name="Freeform 31"/>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F4F9FD"/>
            </a:solidFill>
          </p:spPr>
        </p:sp>
        <p:sp>
          <p:nvSpPr>
            <p:cNvPr id="32" name="TextBox 32"/>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33" name="Group 33"/>
          <p:cNvGrpSpPr/>
          <p:nvPr/>
        </p:nvGrpSpPr>
        <p:grpSpPr>
          <a:xfrm rot="-5400000">
            <a:off x="6811565" y="6480088"/>
            <a:ext cx="562492" cy="452200"/>
            <a:chOff x="0" y="0"/>
            <a:chExt cx="647700" cy="520700"/>
          </a:xfrm>
        </p:grpSpPr>
        <p:sp>
          <p:nvSpPr>
            <p:cNvPr id="34" name="Freeform 34"/>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F4F9FD"/>
            </a:solidFill>
          </p:spPr>
        </p:sp>
        <p:sp>
          <p:nvSpPr>
            <p:cNvPr id="35" name="TextBox 35"/>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36" name="Group 36"/>
          <p:cNvGrpSpPr/>
          <p:nvPr/>
        </p:nvGrpSpPr>
        <p:grpSpPr>
          <a:xfrm rot="-5400000">
            <a:off x="10912699" y="6480088"/>
            <a:ext cx="562492" cy="452200"/>
            <a:chOff x="0" y="0"/>
            <a:chExt cx="647700" cy="520700"/>
          </a:xfrm>
        </p:grpSpPr>
        <p:sp>
          <p:nvSpPr>
            <p:cNvPr id="37" name="Freeform 37"/>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F4F9FD"/>
            </a:solidFill>
          </p:spPr>
        </p:sp>
        <p:sp>
          <p:nvSpPr>
            <p:cNvPr id="38" name="TextBox 38"/>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39" name="Group 39"/>
          <p:cNvGrpSpPr/>
          <p:nvPr/>
        </p:nvGrpSpPr>
        <p:grpSpPr>
          <a:xfrm rot="-5400000">
            <a:off x="15006775" y="6480088"/>
            <a:ext cx="562492" cy="452200"/>
            <a:chOff x="0" y="0"/>
            <a:chExt cx="647700" cy="520700"/>
          </a:xfrm>
        </p:grpSpPr>
        <p:sp>
          <p:nvSpPr>
            <p:cNvPr id="40" name="Freeform 40"/>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F4F9FD"/>
            </a:solidFill>
          </p:spPr>
        </p:sp>
        <p:sp>
          <p:nvSpPr>
            <p:cNvPr id="41" name="TextBox 41"/>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42" name="Group 42"/>
          <p:cNvGrpSpPr/>
          <p:nvPr/>
        </p:nvGrpSpPr>
        <p:grpSpPr>
          <a:xfrm>
            <a:off x="8430452" y="1028700"/>
            <a:ext cx="8828848" cy="3169420"/>
            <a:chOff x="0" y="0"/>
            <a:chExt cx="1367820" cy="491026"/>
          </a:xfrm>
        </p:grpSpPr>
        <p:sp>
          <p:nvSpPr>
            <p:cNvPr id="43" name="Freeform 43"/>
            <p:cNvSpPr/>
            <p:nvPr/>
          </p:nvSpPr>
          <p:spPr>
            <a:xfrm>
              <a:off x="0" y="0"/>
              <a:ext cx="1367820" cy="491026"/>
            </a:xfrm>
            <a:custGeom>
              <a:avLst/>
              <a:gdLst/>
              <a:ahLst/>
              <a:cxnLst/>
              <a:rect l="l" t="t" r="r" b="b"/>
              <a:pathLst>
                <a:path w="1367820" h="491026">
                  <a:moveTo>
                    <a:pt x="12276" y="0"/>
                  </a:moveTo>
                  <a:lnTo>
                    <a:pt x="1355543" y="0"/>
                  </a:lnTo>
                  <a:cubicBezTo>
                    <a:pt x="1358799" y="0"/>
                    <a:pt x="1361922" y="1293"/>
                    <a:pt x="1364224" y="3596"/>
                  </a:cubicBezTo>
                  <a:cubicBezTo>
                    <a:pt x="1366526" y="5898"/>
                    <a:pt x="1367820" y="9021"/>
                    <a:pt x="1367820" y="12276"/>
                  </a:cubicBezTo>
                  <a:lnTo>
                    <a:pt x="1367820" y="478750"/>
                  </a:lnTo>
                  <a:cubicBezTo>
                    <a:pt x="1367820" y="482006"/>
                    <a:pt x="1366526" y="485128"/>
                    <a:pt x="1364224" y="487430"/>
                  </a:cubicBezTo>
                  <a:cubicBezTo>
                    <a:pt x="1361922" y="489733"/>
                    <a:pt x="1358799" y="491026"/>
                    <a:pt x="1355543" y="491026"/>
                  </a:cubicBezTo>
                  <a:lnTo>
                    <a:pt x="12276" y="491026"/>
                  </a:lnTo>
                  <a:cubicBezTo>
                    <a:pt x="9021" y="491026"/>
                    <a:pt x="5898" y="489733"/>
                    <a:pt x="3596" y="487430"/>
                  </a:cubicBezTo>
                  <a:cubicBezTo>
                    <a:pt x="1293" y="485128"/>
                    <a:pt x="0" y="482006"/>
                    <a:pt x="0" y="478750"/>
                  </a:cubicBezTo>
                  <a:lnTo>
                    <a:pt x="0" y="12276"/>
                  </a:lnTo>
                  <a:cubicBezTo>
                    <a:pt x="0" y="9021"/>
                    <a:pt x="1293" y="5898"/>
                    <a:pt x="3596" y="3596"/>
                  </a:cubicBezTo>
                  <a:cubicBezTo>
                    <a:pt x="5898" y="1293"/>
                    <a:pt x="9021" y="0"/>
                    <a:pt x="12276" y="0"/>
                  </a:cubicBezTo>
                  <a:close/>
                </a:path>
              </a:pathLst>
            </a:custGeom>
            <a:blipFill>
              <a:blip r:embed="rId3"/>
              <a:stretch>
                <a:fillRect t="-42938" b="-42938"/>
              </a:stretch>
            </a:blipFill>
          </p:spPr>
        </p:sp>
      </p:grpSp>
      <p:sp>
        <p:nvSpPr>
          <p:cNvPr id="45" name="TextBox 45"/>
          <p:cNvSpPr txBox="1"/>
          <p:nvPr/>
        </p:nvSpPr>
        <p:spPr>
          <a:xfrm>
            <a:off x="1432349" y="5476777"/>
            <a:ext cx="3121143" cy="422238"/>
          </a:xfrm>
          <a:prstGeom prst="rect">
            <a:avLst/>
          </a:prstGeom>
        </p:spPr>
        <p:txBody>
          <a:bodyPr lIns="0" tIns="0" rIns="0" bIns="0" rtlCol="0" anchor="t">
            <a:spAutoFit/>
          </a:bodyPr>
          <a:lstStyle/>
          <a:p>
            <a:pPr algn="ctr">
              <a:lnSpc>
                <a:spcPts val="3499"/>
              </a:lnSpc>
            </a:pPr>
            <a:r>
              <a:rPr lang="en-US" sz="2499" b="1">
                <a:solidFill>
                  <a:srgbClr val="1E293B"/>
                </a:solidFill>
                <a:latin typeface="Open Sans Bold"/>
                <a:ea typeface="Open Sans Bold"/>
                <a:cs typeface="Open Sans Bold"/>
                <a:sym typeface="Open Sans Bold"/>
              </a:rPr>
              <a:t>Total Records</a:t>
            </a:r>
          </a:p>
        </p:txBody>
      </p:sp>
      <p:sp>
        <p:nvSpPr>
          <p:cNvPr id="46" name="TextBox 46"/>
          <p:cNvSpPr txBox="1"/>
          <p:nvPr/>
        </p:nvSpPr>
        <p:spPr>
          <a:xfrm>
            <a:off x="5516212" y="5476777"/>
            <a:ext cx="3121143" cy="422238"/>
          </a:xfrm>
          <a:prstGeom prst="rect">
            <a:avLst/>
          </a:prstGeom>
        </p:spPr>
        <p:txBody>
          <a:bodyPr lIns="0" tIns="0" rIns="0" bIns="0" rtlCol="0" anchor="t">
            <a:spAutoFit/>
          </a:bodyPr>
          <a:lstStyle/>
          <a:p>
            <a:pPr algn="ctr">
              <a:lnSpc>
                <a:spcPts val="3499"/>
              </a:lnSpc>
            </a:pPr>
            <a:r>
              <a:rPr lang="en-US" sz="2499" b="1">
                <a:solidFill>
                  <a:srgbClr val="1E293B"/>
                </a:solidFill>
                <a:latin typeface="Open Sans Bold"/>
                <a:ea typeface="Open Sans Bold"/>
                <a:cs typeface="Open Sans Bold"/>
                <a:sym typeface="Open Sans Bold"/>
              </a:rPr>
              <a:t>Reporting Period</a:t>
            </a:r>
          </a:p>
        </p:txBody>
      </p:sp>
      <p:sp>
        <p:nvSpPr>
          <p:cNvPr id="47" name="TextBox 47"/>
          <p:cNvSpPr txBox="1"/>
          <p:nvPr/>
        </p:nvSpPr>
        <p:spPr>
          <a:xfrm>
            <a:off x="9619006" y="5476777"/>
            <a:ext cx="3121143" cy="422238"/>
          </a:xfrm>
          <a:prstGeom prst="rect">
            <a:avLst/>
          </a:prstGeom>
        </p:spPr>
        <p:txBody>
          <a:bodyPr lIns="0" tIns="0" rIns="0" bIns="0" rtlCol="0" anchor="t">
            <a:spAutoFit/>
          </a:bodyPr>
          <a:lstStyle/>
          <a:p>
            <a:pPr algn="ctr">
              <a:lnSpc>
                <a:spcPts val="3499"/>
              </a:lnSpc>
            </a:pPr>
            <a:r>
              <a:rPr lang="en-US" sz="2499" b="1">
                <a:solidFill>
                  <a:srgbClr val="1E293B"/>
                </a:solidFill>
                <a:latin typeface="Open Sans Bold"/>
                <a:ea typeface="Open Sans Bold"/>
                <a:cs typeface="Open Sans Bold"/>
                <a:sym typeface="Open Sans Bold"/>
              </a:rPr>
              <a:t>Data Sources</a:t>
            </a:r>
          </a:p>
        </p:txBody>
      </p:sp>
      <p:sp>
        <p:nvSpPr>
          <p:cNvPr id="48" name="TextBox 48"/>
          <p:cNvSpPr txBox="1"/>
          <p:nvPr/>
        </p:nvSpPr>
        <p:spPr>
          <a:xfrm>
            <a:off x="13508462" y="7170768"/>
            <a:ext cx="3898630" cy="1856168"/>
          </a:xfrm>
          <a:prstGeom prst="rect">
            <a:avLst/>
          </a:prstGeom>
        </p:spPr>
        <p:txBody>
          <a:bodyPr lIns="0" tIns="0" rIns="0" bIns="0" rtlCol="0" anchor="t">
            <a:spAutoFit/>
          </a:bodyPr>
          <a:lstStyle/>
          <a:p>
            <a:pPr algn="ctr">
              <a:lnSpc>
                <a:spcPts val="3741"/>
              </a:lnSpc>
            </a:pPr>
            <a:r>
              <a:rPr lang="en-US" sz="2672" b="1">
                <a:solidFill>
                  <a:srgbClr val="F4F9FD"/>
                </a:solidFill>
                <a:latin typeface="Open Sans Bold"/>
                <a:ea typeface="Open Sans Bold"/>
                <a:cs typeface="Open Sans Bold"/>
                <a:sym typeface="Open Sans Bold"/>
              </a:rPr>
              <a:t>Patient Info, Doctor Details, Prescription Data, Medicine Usage, Diagnosis Details</a:t>
            </a:r>
          </a:p>
        </p:txBody>
      </p:sp>
      <p:sp>
        <p:nvSpPr>
          <p:cNvPr id="49" name="TextBox 49"/>
          <p:cNvSpPr txBox="1"/>
          <p:nvPr/>
        </p:nvSpPr>
        <p:spPr>
          <a:xfrm>
            <a:off x="13814146" y="5476777"/>
            <a:ext cx="3121143" cy="422238"/>
          </a:xfrm>
          <a:prstGeom prst="rect">
            <a:avLst/>
          </a:prstGeom>
        </p:spPr>
        <p:txBody>
          <a:bodyPr lIns="0" tIns="0" rIns="0" bIns="0" rtlCol="0" anchor="t">
            <a:spAutoFit/>
          </a:bodyPr>
          <a:lstStyle/>
          <a:p>
            <a:pPr algn="ctr">
              <a:lnSpc>
                <a:spcPts val="3499"/>
              </a:lnSpc>
            </a:pPr>
            <a:r>
              <a:rPr lang="en-US" sz="2499" b="1">
                <a:solidFill>
                  <a:srgbClr val="1E293B"/>
                </a:solidFill>
                <a:latin typeface="Open Sans Bold"/>
                <a:ea typeface="Open Sans Bold"/>
                <a:cs typeface="Open Sans Bold"/>
                <a:sym typeface="Open Sans Bold"/>
              </a:rPr>
              <a:t>Key Categories</a:t>
            </a:r>
          </a:p>
        </p:txBody>
      </p:sp>
      <p:sp>
        <p:nvSpPr>
          <p:cNvPr id="50" name="TextBox 50"/>
          <p:cNvSpPr txBox="1"/>
          <p:nvPr/>
        </p:nvSpPr>
        <p:spPr>
          <a:xfrm>
            <a:off x="1028700" y="2324088"/>
            <a:ext cx="5515802" cy="2119070"/>
          </a:xfrm>
          <a:prstGeom prst="rect">
            <a:avLst/>
          </a:prstGeom>
        </p:spPr>
        <p:txBody>
          <a:bodyPr lIns="0" tIns="0" rIns="0" bIns="0" rtlCol="0" anchor="t">
            <a:spAutoFit/>
          </a:bodyPr>
          <a:lstStyle/>
          <a:p>
            <a:pPr algn="l">
              <a:lnSpc>
                <a:spcPts val="7840"/>
              </a:lnSpc>
            </a:pPr>
            <a:r>
              <a:rPr lang="en-US" sz="8000" b="1" dirty="0">
                <a:solidFill>
                  <a:srgbClr val="1E293B"/>
                </a:solidFill>
                <a:latin typeface="Poppins Semi-Bold"/>
                <a:ea typeface="Poppins Semi-Bold"/>
                <a:cs typeface="Poppins Semi-Bold"/>
                <a:sym typeface="Poppins Semi-Bold"/>
              </a:rPr>
              <a:t>Data Overview</a:t>
            </a:r>
          </a:p>
        </p:txBody>
      </p:sp>
      <p:sp>
        <p:nvSpPr>
          <p:cNvPr id="51" name="TextBox 51"/>
          <p:cNvSpPr txBox="1"/>
          <p:nvPr/>
        </p:nvSpPr>
        <p:spPr>
          <a:xfrm>
            <a:off x="1432349" y="7714690"/>
            <a:ext cx="3354562" cy="782907"/>
          </a:xfrm>
          <a:prstGeom prst="rect">
            <a:avLst/>
          </a:prstGeom>
        </p:spPr>
        <p:txBody>
          <a:bodyPr lIns="0" tIns="0" rIns="0" bIns="0" rtlCol="0" anchor="t">
            <a:spAutoFit/>
          </a:bodyPr>
          <a:lstStyle/>
          <a:p>
            <a:pPr algn="ctr">
              <a:lnSpc>
                <a:spcPts val="5880"/>
              </a:lnSpc>
            </a:pPr>
            <a:r>
              <a:rPr lang="en-US" sz="6000" b="1" dirty="0">
                <a:solidFill>
                  <a:srgbClr val="FFFFFF"/>
                </a:solidFill>
                <a:latin typeface="Poppins Semi-Bold"/>
                <a:ea typeface="Poppins Semi-Bold"/>
                <a:cs typeface="Poppins Semi-Bold"/>
                <a:sym typeface="Poppins Semi-Bold"/>
              </a:rPr>
              <a:t>20,000+</a:t>
            </a:r>
          </a:p>
        </p:txBody>
      </p:sp>
      <p:sp>
        <p:nvSpPr>
          <p:cNvPr id="52" name="TextBox 52"/>
          <p:cNvSpPr txBox="1"/>
          <p:nvPr/>
        </p:nvSpPr>
        <p:spPr>
          <a:xfrm>
            <a:off x="5415529" y="7322858"/>
            <a:ext cx="3354562" cy="1586865"/>
          </a:xfrm>
          <a:prstGeom prst="rect">
            <a:avLst/>
          </a:prstGeom>
        </p:spPr>
        <p:txBody>
          <a:bodyPr lIns="0" tIns="0" rIns="0" bIns="0" rtlCol="0" anchor="t">
            <a:spAutoFit/>
          </a:bodyPr>
          <a:lstStyle/>
          <a:p>
            <a:pPr algn="ctr">
              <a:lnSpc>
                <a:spcPts val="5880"/>
              </a:lnSpc>
            </a:pPr>
            <a:r>
              <a:rPr lang="en-US" sz="6000" b="1">
                <a:solidFill>
                  <a:srgbClr val="FFFFFF"/>
                </a:solidFill>
                <a:latin typeface="Poppins Semi-Bold"/>
                <a:ea typeface="Poppins Semi-Bold"/>
                <a:cs typeface="Poppins Semi-Bold"/>
                <a:sym typeface="Poppins Semi-Bold"/>
              </a:rPr>
              <a:t>2020 - 2026</a:t>
            </a:r>
          </a:p>
        </p:txBody>
      </p:sp>
      <p:sp>
        <p:nvSpPr>
          <p:cNvPr id="53" name="TextBox 53"/>
          <p:cNvSpPr txBox="1"/>
          <p:nvPr/>
        </p:nvSpPr>
        <p:spPr>
          <a:xfrm>
            <a:off x="9315450" y="6971610"/>
            <a:ext cx="3756990" cy="2175060"/>
          </a:xfrm>
          <a:prstGeom prst="rect">
            <a:avLst/>
          </a:prstGeom>
        </p:spPr>
        <p:txBody>
          <a:bodyPr lIns="0" tIns="0" rIns="0" bIns="0" rtlCol="0" anchor="t">
            <a:spAutoFit/>
          </a:bodyPr>
          <a:lstStyle/>
          <a:p>
            <a:pPr algn="ctr">
              <a:lnSpc>
                <a:spcPts val="3489"/>
              </a:lnSpc>
              <a:spcBef>
                <a:spcPct val="0"/>
              </a:spcBef>
            </a:pPr>
            <a:r>
              <a:rPr lang="en-US" sz="2492" b="1" dirty="0">
                <a:solidFill>
                  <a:srgbClr val="FFFFFF"/>
                </a:solidFill>
                <a:latin typeface="Open Sans Bold"/>
                <a:ea typeface="Open Sans Bold"/>
                <a:cs typeface="Open Sans Bold"/>
                <a:sym typeface="Open Sans Bold"/>
              </a:rPr>
              <a:t>Digital Prescription System, Hospital Records, Doctor Consultation Logs, Pharmacy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rot="-7968529">
            <a:off x="15705649" y="-63926"/>
            <a:ext cx="2500512" cy="275707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367261" y="3168626"/>
            <a:ext cx="3338393" cy="1398682"/>
          </a:xfrm>
          <a:custGeom>
            <a:avLst/>
            <a:gdLst/>
            <a:ahLst/>
            <a:cxnLst/>
            <a:rect l="l" t="t" r="r" b="b"/>
            <a:pathLst>
              <a:path w="3338393" h="1398682">
                <a:moveTo>
                  <a:pt x="0" y="0"/>
                </a:moveTo>
                <a:lnTo>
                  <a:pt x="3338393" y="0"/>
                </a:lnTo>
                <a:lnTo>
                  <a:pt x="3338393"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4886629" y="3168626"/>
            <a:ext cx="3338393" cy="1398682"/>
          </a:xfrm>
          <a:custGeom>
            <a:avLst/>
            <a:gdLst/>
            <a:ahLst/>
            <a:cxnLst/>
            <a:rect l="l" t="t" r="r" b="b"/>
            <a:pathLst>
              <a:path w="3338393" h="1398682">
                <a:moveTo>
                  <a:pt x="0" y="0"/>
                </a:moveTo>
                <a:lnTo>
                  <a:pt x="3338392" y="0"/>
                </a:lnTo>
                <a:lnTo>
                  <a:pt x="3338392"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8401678" y="3168626"/>
            <a:ext cx="3338393" cy="1398682"/>
          </a:xfrm>
          <a:custGeom>
            <a:avLst/>
            <a:gdLst/>
            <a:ahLst/>
            <a:cxnLst/>
            <a:rect l="l" t="t" r="r" b="b"/>
            <a:pathLst>
              <a:path w="3338393" h="1398682">
                <a:moveTo>
                  <a:pt x="0" y="0"/>
                </a:moveTo>
                <a:lnTo>
                  <a:pt x="3338392" y="0"/>
                </a:lnTo>
                <a:lnTo>
                  <a:pt x="3338392"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916727" y="3168626"/>
            <a:ext cx="3338393" cy="1398682"/>
          </a:xfrm>
          <a:custGeom>
            <a:avLst/>
            <a:gdLst/>
            <a:ahLst/>
            <a:cxnLst/>
            <a:rect l="l" t="t" r="r" b="b"/>
            <a:pathLst>
              <a:path w="3338393" h="1398682">
                <a:moveTo>
                  <a:pt x="0" y="0"/>
                </a:moveTo>
                <a:lnTo>
                  <a:pt x="3338392" y="0"/>
                </a:lnTo>
                <a:lnTo>
                  <a:pt x="3338392"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rot="-10800000">
            <a:off x="11916727" y="6512648"/>
            <a:ext cx="3338393" cy="1398682"/>
          </a:xfrm>
          <a:custGeom>
            <a:avLst/>
            <a:gdLst/>
            <a:ahLst/>
            <a:cxnLst/>
            <a:rect l="l" t="t" r="r" b="b"/>
            <a:pathLst>
              <a:path w="3338393" h="1398682">
                <a:moveTo>
                  <a:pt x="0" y="0"/>
                </a:moveTo>
                <a:lnTo>
                  <a:pt x="3338392" y="0"/>
                </a:lnTo>
                <a:lnTo>
                  <a:pt x="3338392"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8578334" y="6512648"/>
            <a:ext cx="3338393" cy="1398682"/>
          </a:xfrm>
          <a:custGeom>
            <a:avLst/>
            <a:gdLst/>
            <a:ahLst/>
            <a:cxnLst/>
            <a:rect l="l" t="t" r="r" b="b"/>
            <a:pathLst>
              <a:path w="3338393" h="1398682">
                <a:moveTo>
                  <a:pt x="0" y="0"/>
                </a:moveTo>
                <a:lnTo>
                  <a:pt x="3338393" y="0"/>
                </a:lnTo>
                <a:lnTo>
                  <a:pt x="3338393"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3" name="Freeform 13"/>
          <p:cNvSpPr/>
          <p:nvPr/>
        </p:nvSpPr>
        <p:spPr>
          <a:xfrm rot="-10800000">
            <a:off x="5239941" y="6512648"/>
            <a:ext cx="3338393" cy="1398682"/>
          </a:xfrm>
          <a:custGeom>
            <a:avLst/>
            <a:gdLst/>
            <a:ahLst/>
            <a:cxnLst/>
            <a:rect l="l" t="t" r="r" b="b"/>
            <a:pathLst>
              <a:path w="3338393" h="1398682">
                <a:moveTo>
                  <a:pt x="0" y="0"/>
                </a:moveTo>
                <a:lnTo>
                  <a:pt x="3338393" y="0"/>
                </a:lnTo>
                <a:lnTo>
                  <a:pt x="3338393"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rot="-10800000">
            <a:off x="1901548" y="6512648"/>
            <a:ext cx="3338393" cy="1398682"/>
          </a:xfrm>
          <a:custGeom>
            <a:avLst/>
            <a:gdLst/>
            <a:ahLst/>
            <a:cxnLst/>
            <a:rect l="l" t="t" r="r" b="b"/>
            <a:pathLst>
              <a:path w="3338393" h="1398682">
                <a:moveTo>
                  <a:pt x="0" y="0"/>
                </a:moveTo>
                <a:lnTo>
                  <a:pt x="3338393" y="0"/>
                </a:lnTo>
                <a:lnTo>
                  <a:pt x="3338393" y="1398682"/>
                </a:lnTo>
                <a:lnTo>
                  <a:pt x="0" y="139868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Freeform 15"/>
          <p:cNvSpPr/>
          <p:nvPr/>
        </p:nvSpPr>
        <p:spPr>
          <a:xfrm rot="4509823">
            <a:off x="13841783" y="4825229"/>
            <a:ext cx="3640949" cy="1449760"/>
          </a:xfrm>
          <a:custGeom>
            <a:avLst/>
            <a:gdLst/>
            <a:ahLst/>
            <a:cxnLst/>
            <a:rect l="l" t="t" r="r" b="b"/>
            <a:pathLst>
              <a:path w="3640949" h="1449760">
                <a:moveTo>
                  <a:pt x="0" y="0"/>
                </a:moveTo>
                <a:lnTo>
                  <a:pt x="3640949" y="0"/>
                </a:lnTo>
                <a:lnTo>
                  <a:pt x="3640949" y="1449760"/>
                </a:lnTo>
                <a:lnTo>
                  <a:pt x="0" y="144976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1028700" y="1085850"/>
            <a:ext cx="6810061" cy="701681"/>
          </a:xfrm>
          <a:prstGeom prst="rect">
            <a:avLst/>
          </a:prstGeom>
        </p:spPr>
        <p:txBody>
          <a:bodyPr lIns="0" tIns="0" rIns="0" bIns="0" rtlCol="0" anchor="t">
            <a:spAutoFit/>
          </a:bodyPr>
          <a:lstStyle/>
          <a:p>
            <a:pPr algn="l">
              <a:lnSpc>
                <a:spcPts val="4900"/>
              </a:lnSpc>
            </a:pPr>
            <a:r>
              <a:rPr lang="en-US" sz="5000" b="1">
                <a:solidFill>
                  <a:srgbClr val="1E293B"/>
                </a:solidFill>
                <a:latin typeface="Poppins Semi-Bold"/>
                <a:ea typeface="Poppins Semi-Bold"/>
                <a:cs typeface="Poppins Semi-Bold"/>
                <a:sym typeface="Poppins Semi-Bold"/>
              </a:rPr>
              <a:t>Project Workflow</a:t>
            </a:r>
          </a:p>
        </p:txBody>
      </p:sp>
      <p:sp>
        <p:nvSpPr>
          <p:cNvPr id="17" name="TextBox 17"/>
          <p:cNvSpPr txBox="1"/>
          <p:nvPr/>
        </p:nvSpPr>
        <p:spPr>
          <a:xfrm>
            <a:off x="1576989" y="3413942"/>
            <a:ext cx="2531062" cy="901649"/>
          </a:xfrm>
          <a:prstGeom prst="rect">
            <a:avLst/>
          </a:prstGeom>
        </p:spPr>
        <p:txBody>
          <a:bodyPr lIns="0" tIns="0" rIns="0" bIns="0" rtlCol="0" anchor="t">
            <a:spAutoFit/>
          </a:bodyPr>
          <a:lstStyle/>
          <a:p>
            <a:pPr algn="ctr">
              <a:lnSpc>
                <a:spcPts val="3677"/>
              </a:lnSpc>
            </a:pPr>
            <a:r>
              <a:rPr lang="en-US" sz="2626" b="1">
                <a:solidFill>
                  <a:srgbClr val="1E293B"/>
                </a:solidFill>
                <a:latin typeface="Open Sans Bold"/>
                <a:ea typeface="Open Sans Bold"/>
                <a:cs typeface="Open Sans Bold"/>
                <a:sym typeface="Open Sans Bold"/>
              </a:rPr>
              <a:t>Data Collection</a:t>
            </a:r>
          </a:p>
        </p:txBody>
      </p:sp>
      <p:sp>
        <p:nvSpPr>
          <p:cNvPr id="18" name="TextBox 18"/>
          <p:cNvSpPr txBox="1"/>
          <p:nvPr/>
        </p:nvSpPr>
        <p:spPr>
          <a:xfrm>
            <a:off x="8578334" y="3391547"/>
            <a:ext cx="2541632" cy="905215"/>
          </a:xfrm>
          <a:prstGeom prst="rect">
            <a:avLst/>
          </a:prstGeom>
        </p:spPr>
        <p:txBody>
          <a:bodyPr lIns="0" tIns="0" rIns="0" bIns="0" rtlCol="0" anchor="t">
            <a:spAutoFit/>
          </a:bodyPr>
          <a:lstStyle/>
          <a:p>
            <a:pPr algn="ctr">
              <a:lnSpc>
                <a:spcPts val="3692"/>
              </a:lnSpc>
            </a:pPr>
            <a:r>
              <a:rPr lang="en-US" sz="2637" b="1">
                <a:solidFill>
                  <a:srgbClr val="1E293B"/>
                </a:solidFill>
                <a:latin typeface="Open Sans Bold"/>
                <a:ea typeface="Open Sans Bold"/>
                <a:cs typeface="Open Sans Bold"/>
                <a:sym typeface="Open Sans Bold"/>
              </a:rPr>
              <a:t>Data Acquisition</a:t>
            </a:r>
          </a:p>
        </p:txBody>
      </p:sp>
      <p:sp>
        <p:nvSpPr>
          <p:cNvPr id="19" name="TextBox 19"/>
          <p:cNvSpPr txBox="1"/>
          <p:nvPr/>
        </p:nvSpPr>
        <p:spPr>
          <a:xfrm>
            <a:off x="9078955" y="6715411"/>
            <a:ext cx="2661116" cy="945531"/>
          </a:xfrm>
          <a:prstGeom prst="rect">
            <a:avLst/>
          </a:prstGeom>
        </p:spPr>
        <p:txBody>
          <a:bodyPr lIns="0" tIns="0" rIns="0" bIns="0" rtlCol="0" anchor="t">
            <a:spAutoFit/>
          </a:bodyPr>
          <a:lstStyle/>
          <a:p>
            <a:pPr algn="ctr">
              <a:lnSpc>
                <a:spcPts val="3866"/>
              </a:lnSpc>
            </a:pPr>
            <a:r>
              <a:rPr lang="en-US" sz="2761" b="1">
                <a:solidFill>
                  <a:srgbClr val="1E293B"/>
                </a:solidFill>
                <a:latin typeface="Open Sans Bold"/>
                <a:ea typeface="Open Sans Bold"/>
                <a:cs typeface="Open Sans Bold"/>
                <a:sym typeface="Open Sans Bold"/>
              </a:rPr>
              <a:t>Data Analysis using Python</a:t>
            </a:r>
          </a:p>
        </p:txBody>
      </p:sp>
      <p:sp>
        <p:nvSpPr>
          <p:cNvPr id="20" name="TextBox 20"/>
          <p:cNvSpPr txBox="1"/>
          <p:nvPr/>
        </p:nvSpPr>
        <p:spPr>
          <a:xfrm>
            <a:off x="12421552" y="6715411"/>
            <a:ext cx="2661116" cy="945531"/>
          </a:xfrm>
          <a:prstGeom prst="rect">
            <a:avLst/>
          </a:prstGeom>
        </p:spPr>
        <p:txBody>
          <a:bodyPr lIns="0" tIns="0" rIns="0" bIns="0" rtlCol="0" anchor="t">
            <a:spAutoFit/>
          </a:bodyPr>
          <a:lstStyle/>
          <a:p>
            <a:pPr algn="ctr">
              <a:lnSpc>
                <a:spcPts val="3866"/>
              </a:lnSpc>
            </a:pPr>
            <a:r>
              <a:rPr lang="en-US" sz="2761" b="1">
                <a:solidFill>
                  <a:srgbClr val="1E293B"/>
                </a:solidFill>
                <a:latin typeface="Open Sans Bold"/>
                <a:ea typeface="Open Sans Bold"/>
                <a:cs typeface="Open Sans Bold"/>
                <a:sym typeface="Open Sans Bold"/>
              </a:rPr>
              <a:t>Database Management</a:t>
            </a:r>
          </a:p>
        </p:txBody>
      </p:sp>
      <p:sp>
        <p:nvSpPr>
          <p:cNvPr id="21" name="TextBox 21"/>
          <p:cNvSpPr txBox="1"/>
          <p:nvPr/>
        </p:nvSpPr>
        <p:spPr>
          <a:xfrm>
            <a:off x="12092495" y="3391547"/>
            <a:ext cx="2531062" cy="901649"/>
          </a:xfrm>
          <a:prstGeom prst="rect">
            <a:avLst/>
          </a:prstGeom>
        </p:spPr>
        <p:txBody>
          <a:bodyPr lIns="0" tIns="0" rIns="0" bIns="0" rtlCol="0" anchor="t">
            <a:spAutoFit/>
          </a:bodyPr>
          <a:lstStyle/>
          <a:p>
            <a:pPr algn="ctr">
              <a:lnSpc>
                <a:spcPts val="3677"/>
              </a:lnSpc>
            </a:pPr>
            <a:r>
              <a:rPr lang="en-US" sz="2626" b="1">
                <a:solidFill>
                  <a:srgbClr val="1E293B"/>
                </a:solidFill>
                <a:latin typeface="Open Sans Bold"/>
                <a:ea typeface="Open Sans Bold"/>
                <a:cs typeface="Open Sans Bold"/>
                <a:sym typeface="Open Sans Bold"/>
              </a:rPr>
              <a:t>Data preprocessing</a:t>
            </a:r>
          </a:p>
        </p:txBody>
      </p:sp>
      <p:sp>
        <p:nvSpPr>
          <p:cNvPr id="22" name="TextBox 22"/>
          <p:cNvSpPr txBox="1"/>
          <p:nvPr/>
        </p:nvSpPr>
        <p:spPr>
          <a:xfrm>
            <a:off x="5740562" y="6715411"/>
            <a:ext cx="2661116" cy="945531"/>
          </a:xfrm>
          <a:prstGeom prst="rect">
            <a:avLst/>
          </a:prstGeom>
        </p:spPr>
        <p:txBody>
          <a:bodyPr lIns="0" tIns="0" rIns="0" bIns="0" rtlCol="0" anchor="t">
            <a:spAutoFit/>
          </a:bodyPr>
          <a:lstStyle/>
          <a:p>
            <a:pPr algn="ctr">
              <a:lnSpc>
                <a:spcPts val="3866"/>
              </a:lnSpc>
            </a:pPr>
            <a:r>
              <a:rPr lang="en-US" sz="2761" b="1">
                <a:solidFill>
                  <a:srgbClr val="1E293B"/>
                </a:solidFill>
                <a:latin typeface="Open Sans Bold"/>
                <a:ea typeface="Open Sans Bold"/>
                <a:cs typeface="Open Sans Bold"/>
                <a:sym typeface="Open Sans Bold"/>
              </a:rPr>
              <a:t>Data Visualization</a:t>
            </a:r>
          </a:p>
        </p:txBody>
      </p:sp>
      <p:sp>
        <p:nvSpPr>
          <p:cNvPr id="23" name="TextBox 23"/>
          <p:cNvSpPr txBox="1"/>
          <p:nvPr/>
        </p:nvSpPr>
        <p:spPr>
          <a:xfrm>
            <a:off x="2304624" y="6715411"/>
            <a:ext cx="2661116" cy="945531"/>
          </a:xfrm>
          <a:prstGeom prst="rect">
            <a:avLst/>
          </a:prstGeom>
        </p:spPr>
        <p:txBody>
          <a:bodyPr lIns="0" tIns="0" rIns="0" bIns="0" rtlCol="0" anchor="t">
            <a:spAutoFit/>
          </a:bodyPr>
          <a:lstStyle/>
          <a:p>
            <a:pPr algn="ctr">
              <a:lnSpc>
                <a:spcPts val="3866"/>
              </a:lnSpc>
            </a:pPr>
            <a:r>
              <a:rPr lang="en-US" sz="2761" b="1">
                <a:solidFill>
                  <a:srgbClr val="1E293B"/>
                </a:solidFill>
                <a:latin typeface="Open Sans Bold"/>
                <a:ea typeface="Open Sans Bold"/>
                <a:cs typeface="Open Sans Bold"/>
                <a:sym typeface="Open Sans Bold"/>
              </a:rPr>
              <a:t>User Interface  Development</a:t>
            </a:r>
          </a:p>
        </p:txBody>
      </p:sp>
      <p:sp>
        <p:nvSpPr>
          <p:cNvPr id="24" name="TextBox 24"/>
          <p:cNvSpPr txBox="1"/>
          <p:nvPr/>
        </p:nvSpPr>
        <p:spPr>
          <a:xfrm>
            <a:off x="4965740" y="3391547"/>
            <a:ext cx="2531062" cy="901649"/>
          </a:xfrm>
          <a:prstGeom prst="rect">
            <a:avLst/>
          </a:prstGeom>
        </p:spPr>
        <p:txBody>
          <a:bodyPr lIns="0" tIns="0" rIns="0" bIns="0" rtlCol="0" anchor="t">
            <a:spAutoFit/>
          </a:bodyPr>
          <a:lstStyle/>
          <a:p>
            <a:pPr algn="ctr">
              <a:lnSpc>
                <a:spcPts val="3677"/>
              </a:lnSpc>
            </a:pPr>
            <a:r>
              <a:rPr lang="en-US" sz="2626" b="1">
                <a:solidFill>
                  <a:srgbClr val="1E293B"/>
                </a:solidFill>
                <a:latin typeface="Open Sans Bold"/>
                <a:ea typeface="Open Sans Bold"/>
                <a:cs typeface="Open Sans Bold"/>
                <a:sym typeface="Open Sans Bold"/>
              </a:rPr>
              <a:t>Data Integration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7440992"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866527" y="8603"/>
            <a:ext cx="5421473" cy="2056897"/>
            <a:chOff x="0" y="0"/>
            <a:chExt cx="839928" cy="318667"/>
          </a:xfrm>
        </p:grpSpPr>
        <p:sp>
          <p:nvSpPr>
            <p:cNvPr id="7" name="Freeform 7"/>
            <p:cNvSpPr/>
            <p:nvPr/>
          </p:nvSpPr>
          <p:spPr>
            <a:xfrm>
              <a:off x="0" y="0"/>
              <a:ext cx="839928" cy="318667"/>
            </a:xfrm>
            <a:custGeom>
              <a:avLst/>
              <a:gdLst/>
              <a:ahLst/>
              <a:cxnLst/>
              <a:rect l="l" t="t" r="r" b="b"/>
              <a:pathLst>
                <a:path w="839928" h="318667">
                  <a:moveTo>
                    <a:pt x="19992" y="0"/>
                  </a:moveTo>
                  <a:lnTo>
                    <a:pt x="819936" y="0"/>
                  </a:lnTo>
                  <a:cubicBezTo>
                    <a:pt x="825238" y="0"/>
                    <a:pt x="830323" y="2106"/>
                    <a:pt x="834073" y="5856"/>
                  </a:cubicBezTo>
                  <a:cubicBezTo>
                    <a:pt x="837822" y="9605"/>
                    <a:pt x="839928" y="14690"/>
                    <a:pt x="839928" y="19992"/>
                  </a:cubicBezTo>
                  <a:lnTo>
                    <a:pt x="839928" y="298675"/>
                  </a:lnTo>
                  <a:cubicBezTo>
                    <a:pt x="839928" y="303977"/>
                    <a:pt x="837822" y="309062"/>
                    <a:pt x="834073" y="312812"/>
                  </a:cubicBezTo>
                  <a:cubicBezTo>
                    <a:pt x="830323" y="316561"/>
                    <a:pt x="825238" y="318667"/>
                    <a:pt x="819936" y="318667"/>
                  </a:cubicBezTo>
                  <a:lnTo>
                    <a:pt x="19992" y="318667"/>
                  </a:lnTo>
                  <a:cubicBezTo>
                    <a:pt x="14690" y="318667"/>
                    <a:pt x="9605" y="316561"/>
                    <a:pt x="5856" y="312812"/>
                  </a:cubicBezTo>
                  <a:cubicBezTo>
                    <a:pt x="2106" y="309062"/>
                    <a:pt x="0" y="303977"/>
                    <a:pt x="0" y="298675"/>
                  </a:cubicBezTo>
                  <a:lnTo>
                    <a:pt x="0" y="19992"/>
                  </a:lnTo>
                  <a:cubicBezTo>
                    <a:pt x="0" y="14690"/>
                    <a:pt x="2106" y="9605"/>
                    <a:pt x="5856" y="5856"/>
                  </a:cubicBezTo>
                  <a:cubicBezTo>
                    <a:pt x="9605" y="2106"/>
                    <a:pt x="14690" y="0"/>
                    <a:pt x="19992" y="0"/>
                  </a:cubicBezTo>
                  <a:close/>
                </a:path>
              </a:pathLst>
            </a:custGeom>
            <a:blipFill>
              <a:blip r:embed="rId3"/>
              <a:stretch>
                <a:fillRect t="-37938" b="-37938"/>
              </a:stretch>
            </a:blipFill>
          </p:spPr>
        </p:sp>
      </p:grpSp>
      <p:sp>
        <p:nvSpPr>
          <p:cNvPr id="8" name="TextBox 8"/>
          <p:cNvSpPr txBox="1"/>
          <p:nvPr/>
        </p:nvSpPr>
        <p:spPr>
          <a:xfrm>
            <a:off x="1164050" y="795182"/>
            <a:ext cx="9411968" cy="951997"/>
          </a:xfrm>
          <a:prstGeom prst="rect">
            <a:avLst/>
          </a:prstGeom>
        </p:spPr>
        <p:txBody>
          <a:bodyPr lIns="0" tIns="0" rIns="0" bIns="0" rtlCol="0" anchor="t">
            <a:spAutoFit/>
          </a:bodyPr>
          <a:lstStyle/>
          <a:p>
            <a:pPr algn="l">
              <a:lnSpc>
                <a:spcPts val="6664"/>
              </a:lnSpc>
            </a:pPr>
            <a:r>
              <a:rPr lang="en-US" sz="6800" b="1">
                <a:solidFill>
                  <a:srgbClr val="1E293B"/>
                </a:solidFill>
                <a:latin typeface="Poppins Semi-Bold"/>
                <a:ea typeface="Poppins Semi-Bold"/>
                <a:cs typeface="Poppins Semi-Bold"/>
                <a:sym typeface="Poppins Semi-Bold"/>
              </a:rPr>
              <a:t>Project Explanation</a:t>
            </a:r>
          </a:p>
        </p:txBody>
      </p:sp>
      <p:sp>
        <p:nvSpPr>
          <p:cNvPr id="9" name="TextBox 9"/>
          <p:cNvSpPr txBox="1"/>
          <p:nvPr/>
        </p:nvSpPr>
        <p:spPr>
          <a:xfrm>
            <a:off x="1028700" y="2305716"/>
            <a:ext cx="14272678" cy="6510130"/>
          </a:xfrm>
          <a:prstGeom prst="rect">
            <a:avLst/>
          </a:prstGeom>
        </p:spPr>
        <p:txBody>
          <a:bodyPr lIns="0" tIns="0" rIns="0" bIns="0" rtlCol="0" anchor="t">
            <a:spAutoFit/>
          </a:bodyPr>
          <a:lstStyle/>
          <a:p>
            <a:pPr marL="569448" lvl="1" indent="-284724" algn="l">
              <a:lnSpc>
                <a:spcPts val="5327"/>
              </a:lnSpc>
              <a:buFont typeface="Arial"/>
              <a:buChar char="•"/>
            </a:pPr>
            <a:r>
              <a:rPr lang="en-US" sz="2637" b="1">
                <a:solidFill>
                  <a:srgbClr val="1E293B"/>
                </a:solidFill>
                <a:latin typeface="Open Sans Bold"/>
                <a:ea typeface="Open Sans Bold"/>
                <a:cs typeface="Open Sans Bold"/>
                <a:sym typeface="Open Sans Bold"/>
              </a:rPr>
              <a:t>This project analyzes healthcare prescription data to extract useful insights about patients, doctors, diseases, and medicines. Raw CSV data is cleaned using Pandas and stored in a MySQL database for structured management.</a:t>
            </a:r>
          </a:p>
          <a:p>
            <a:pPr marL="569448" lvl="1" indent="-284724" algn="l">
              <a:lnSpc>
                <a:spcPts val="5327"/>
              </a:lnSpc>
              <a:buFont typeface="Arial"/>
              <a:buChar char="•"/>
            </a:pPr>
            <a:r>
              <a:rPr lang="en-US" sz="2637" b="1">
                <a:solidFill>
                  <a:srgbClr val="1E293B"/>
                </a:solidFill>
                <a:latin typeface="Open Sans Bold"/>
                <a:ea typeface="Open Sans Bold"/>
                <a:cs typeface="Open Sans Bold"/>
                <a:sym typeface="Open Sans Bold"/>
              </a:rPr>
              <a:t>Python is used to perform data analysis and generate meaningful insights through visualization techniques like charts and graphs. The system helps identify prescription trends, doctor specialization patterns, and patient visit behavior.</a:t>
            </a:r>
          </a:p>
          <a:p>
            <a:pPr marL="569448" lvl="1" indent="-284724" algn="l">
              <a:lnSpc>
                <a:spcPts val="5327"/>
              </a:lnSpc>
              <a:buFont typeface="Arial"/>
              <a:buChar char="•"/>
            </a:pPr>
            <a:r>
              <a:rPr lang="en-US" sz="2637" b="1">
                <a:solidFill>
                  <a:srgbClr val="1E293B"/>
                </a:solidFill>
                <a:latin typeface="Open Sans Bold"/>
                <a:ea typeface="Open Sans Bold"/>
                <a:cs typeface="Open Sans Bold"/>
                <a:sym typeface="Open Sans Bold"/>
              </a:rPr>
              <a:t>Finally, a CLI-based interface is developed to allow easy interaction with the analysis system and view results efficiently.</a:t>
            </a:r>
          </a:p>
          <a:p>
            <a:pPr algn="l">
              <a:lnSpc>
                <a:spcPts val="3692"/>
              </a:lnSpc>
            </a:pPr>
            <a:endParaRPr lang="en-US" sz="2637" b="1">
              <a:solidFill>
                <a:srgbClr val="1E293B"/>
              </a:solidFill>
              <a:latin typeface="Open Sans Bold"/>
              <a:ea typeface="Open Sans Bold"/>
              <a:cs typeface="Open Sans Bold"/>
              <a:sym typeface="Open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382781" y="1763294"/>
            <a:ext cx="6918376" cy="3380206"/>
          </a:xfrm>
          <a:custGeom>
            <a:avLst/>
            <a:gdLst/>
            <a:ahLst/>
            <a:cxnLst/>
            <a:rect l="l" t="t" r="r" b="b"/>
            <a:pathLst>
              <a:path w="6918376" h="3380206">
                <a:moveTo>
                  <a:pt x="0" y="0"/>
                </a:moveTo>
                <a:lnTo>
                  <a:pt x="6918376" y="0"/>
                </a:lnTo>
                <a:lnTo>
                  <a:pt x="6918376" y="3380206"/>
                </a:lnTo>
                <a:lnTo>
                  <a:pt x="0" y="3380206"/>
                </a:lnTo>
                <a:lnTo>
                  <a:pt x="0" y="0"/>
                </a:lnTo>
                <a:close/>
              </a:path>
            </a:pathLst>
          </a:custGeom>
          <a:blipFill>
            <a:blip r:embed="rId2"/>
            <a:stretch>
              <a:fillRect l="-287" t="-674" b="-674"/>
            </a:stretch>
          </a:blipFill>
        </p:spPr>
      </p:sp>
      <p:sp>
        <p:nvSpPr>
          <p:cNvPr id="6" name="Freeform 6"/>
          <p:cNvSpPr/>
          <p:nvPr/>
        </p:nvSpPr>
        <p:spPr>
          <a:xfrm>
            <a:off x="10053456" y="1431261"/>
            <a:ext cx="6585428" cy="3915586"/>
          </a:xfrm>
          <a:custGeom>
            <a:avLst/>
            <a:gdLst/>
            <a:ahLst/>
            <a:cxnLst/>
            <a:rect l="l" t="t" r="r" b="b"/>
            <a:pathLst>
              <a:path w="6585428" h="3915586">
                <a:moveTo>
                  <a:pt x="0" y="0"/>
                </a:moveTo>
                <a:lnTo>
                  <a:pt x="6585428" y="0"/>
                </a:lnTo>
                <a:lnTo>
                  <a:pt x="6585428" y="3915586"/>
                </a:lnTo>
                <a:lnTo>
                  <a:pt x="0" y="3915586"/>
                </a:lnTo>
                <a:lnTo>
                  <a:pt x="0" y="0"/>
                </a:lnTo>
                <a:close/>
              </a:path>
            </a:pathLst>
          </a:custGeom>
          <a:blipFill>
            <a:blip r:embed="rId3"/>
            <a:stretch>
              <a:fillRect/>
            </a:stretch>
          </a:blipFill>
        </p:spPr>
      </p:sp>
      <p:sp>
        <p:nvSpPr>
          <p:cNvPr id="7" name="Freeform 7"/>
          <p:cNvSpPr/>
          <p:nvPr/>
        </p:nvSpPr>
        <p:spPr>
          <a:xfrm>
            <a:off x="4841969" y="5346847"/>
            <a:ext cx="7301518" cy="4710807"/>
          </a:xfrm>
          <a:custGeom>
            <a:avLst/>
            <a:gdLst/>
            <a:ahLst/>
            <a:cxnLst/>
            <a:rect l="l" t="t" r="r" b="b"/>
            <a:pathLst>
              <a:path w="7301518" h="4710807">
                <a:moveTo>
                  <a:pt x="0" y="0"/>
                </a:moveTo>
                <a:lnTo>
                  <a:pt x="7301518" y="0"/>
                </a:lnTo>
                <a:lnTo>
                  <a:pt x="7301518" y="4710807"/>
                </a:lnTo>
                <a:lnTo>
                  <a:pt x="0" y="4710807"/>
                </a:lnTo>
                <a:lnTo>
                  <a:pt x="0" y="0"/>
                </a:lnTo>
                <a:close/>
              </a:path>
            </a:pathLst>
          </a:custGeom>
          <a:blipFill>
            <a:blip r:embed="rId4"/>
            <a:stretch>
              <a:fillRect r="-4482"/>
            </a:stretch>
          </a:blipFill>
        </p:spPr>
      </p:sp>
      <p:sp>
        <p:nvSpPr>
          <p:cNvPr id="8" name="TextBox 8"/>
          <p:cNvSpPr txBox="1"/>
          <p:nvPr/>
        </p:nvSpPr>
        <p:spPr>
          <a:xfrm>
            <a:off x="718982" y="357106"/>
            <a:ext cx="8425018" cy="1152688"/>
          </a:xfrm>
          <a:prstGeom prst="rect">
            <a:avLst/>
          </a:prstGeom>
        </p:spPr>
        <p:txBody>
          <a:bodyPr lIns="0" tIns="0" rIns="0" bIns="0" rtlCol="0" anchor="t">
            <a:spAutoFit/>
          </a:bodyPr>
          <a:lstStyle/>
          <a:p>
            <a:pPr algn="just">
              <a:lnSpc>
                <a:spcPts val="8916"/>
              </a:lnSpc>
            </a:pPr>
            <a:r>
              <a:rPr lang="en-US" sz="6368" b="1">
                <a:solidFill>
                  <a:srgbClr val="1E293B"/>
                </a:solidFill>
                <a:latin typeface="Poppins Bold"/>
                <a:ea typeface="Poppins Bold"/>
                <a:cs typeface="Poppins Bold"/>
                <a:sym typeface="Poppins Bold"/>
              </a:rPr>
              <a:t>Data Visualization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942186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873959" y="294683"/>
            <a:ext cx="9828683" cy="4848817"/>
          </a:xfrm>
          <a:custGeom>
            <a:avLst/>
            <a:gdLst/>
            <a:ahLst/>
            <a:cxnLst/>
            <a:rect l="l" t="t" r="r" b="b"/>
            <a:pathLst>
              <a:path w="9828683" h="4848817">
                <a:moveTo>
                  <a:pt x="0" y="0"/>
                </a:moveTo>
                <a:lnTo>
                  <a:pt x="9828683" y="0"/>
                </a:lnTo>
                <a:lnTo>
                  <a:pt x="9828683" y="4848817"/>
                </a:lnTo>
                <a:lnTo>
                  <a:pt x="0" y="4848817"/>
                </a:lnTo>
                <a:lnTo>
                  <a:pt x="0" y="0"/>
                </a:lnTo>
                <a:close/>
              </a:path>
            </a:pathLst>
          </a:custGeom>
          <a:blipFill>
            <a:blip r:embed="rId3"/>
            <a:stretch>
              <a:fillRect/>
            </a:stretch>
          </a:blipFill>
        </p:spPr>
      </p:sp>
      <p:sp>
        <p:nvSpPr>
          <p:cNvPr id="7" name="Freeform 7"/>
          <p:cNvSpPr/>
          <p:nvPr/>
        </p:nvSpPr>
        <p:spPr>
          <a:xfrm>
            <a:off x="6670104" y="5143500"/>
            <a:ext cx="10389263" cy="5125370"/>
          </a:xfrm>
          <a:custGeom>
            <a:avLst/>
            <a:gdLst/>
            <a:ahLst/>
            <a:cxnLst/>
            <a:rect l="l" t="t" r="r" b="b"/>
            <a:pathLst>
              <a:path w="10389263" h="5125370">
                <a:moveTo>
                  <a:pt x="0" y="0"/>
                </a:moveTo>
                <a:lnTo>
                  <a:pt x="10389262" y="0"/>
                </a:lnTo>
                <a:lnTo>
                  <a:pt x="10389262" y="5125370"/>
                </a:lnTo>
                <a:lnTo>
                  <a:pt x="0" y="5125370"/>
                </a:lnTo>
                <a:lnTo>
                  <a:pt x="0" y="0"/>
                </a:lnTo>
                <a:close/>
              </a:path>
            </a:pathLst>
          </a:custGeom>
          <a:blipFill>
            <a:blip r:embed="rId4"/>
            <a:stretch>
              <a:fillRect/>
            </a:stretch>
          </a:blipFill>
        </p:spPr>
      </p:sp>
      <p:sp>
        <p:nvSpPr>
          <p:cNvPr id="8" name="Freeform 8"/>
          <p:cNvSpPr/>
          <p:nvPr/>
        </p:nvSpPr>
        <p:spPr>
          <a:xfrm>
            <a:off x="17440992" y="0"/>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942186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7440992" y="0"/>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9699812" y="1399580"/>
            <a:ext cx="8164684" cy="8056577"/>
          </a:xfrm>
          <a:custGeom>
            <a:avLst/>
            <a:gdLst/>
            <a:ahLst/>
            <a:cxnLst/>
            <a:rect l="l" t="t" r="r" b="b"/>
            <a:pathLst>
              <a:path w="8164684" h="8056577">
                <a:moveTo>
                  <a:pt x="0" y="0"/>
                </a:moveTo>
                <a:lnTo>
                  <a:pt x="8164684" y="0"/>
                </a:lnTo>
                <a:lnTo>
                  <a:pt x="8164684" y="8056577"/>
                </a:lnTo>
                <a:lnTo>
                  <a:pt x="0" y="8056577"/>
                </a:lnTo>
                <a:lnTo>
                  <a:pt x="0" y="0"/>
                </a:lnTo>
                <a:close/>
              </a:path>
            </a:pathLst>
          </a:custGeom>
          <a:blipFill>
            <a:blip r:embed="rId3"/>
            <a:stretch>
              <a:fillRect l="-310" r="-2664" b="-6286"/>
            </a:stretch>
          </a:blipFill>
        </p:spPr>
      </p:sp>
      <p:sp>
        <p:nvSpPr>
          <p:cNvPr id="8" name="Freeform 8"/>
          <p:cNvSpPr/>
          <p:nvPr/>
        </p:nvSpPr>
        <p:spPr>
          <a:xfrm>
            <a:off x="490780" y="423504"/>
            <a:ext cx="9209032" cy="4543123"/>
          </a:xfrm>
          <a:custGeom>
            <a:avLst/>
            <a:gdLst/>
            <a:ahLst/>
            <a:cxnLst/>
            <a:rect l="l" t="t" r="r" b="b"/>
            <a:pathLst>
              <a:path w="9209032" h="4543123">
                <a:moveTo>
                  <a:pt x="0" y="0"/>
                </a:moveTo>
                <a:lnTo>
                  <a:pt x="9209032" y="0"/>
                </a:lnTo>
                <a:lnTo>
                  <a:pt x="9209032" y="4543123"/>
                </a:lnTo>
                <a:lnTo>
                  <a:pt x="0" y="4543123"/>
                </a:lnTo>
                <a:lnTo>
                  <a:pt x="0" y="0"/>
                </a:lnTo>
                <a:close/>
              </a:path>
            </a:pathLst>
          </a:custGeom>
          <a:blipFill>
            <a:blip r:embed="rId4"/>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7440992"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747454" y="345591"/>
            <a:ext cx="6978472" cy="1128433"/>
          </a:xfrm>
          <a:prstGeom prst="rect">
            <a:avLst/>
          </a:prstGeom>
        </p:spPr>
        <p:txBody>
          <a:bodyPr lIns="0" tIns="0" rIns="0" bIns="0" rtlCol="0" anchor="t">
            <a:spAutoFit/>
          </a:bodyPr>
          <a:lstStyle/>
          <a:p>
            <a:pPr algn="l">
              <a:lnSpc>
                <a:spcPts val="7840"/>
              </a:lnSpc>
            </a:pPr>
            <a:r>
              <a:rPr lang="en-US" sz="8000" b="1">
                <a:solidFill>
                  <a:srgbClr val="1E293B"/>
                </a:solidFill>
                <a:latin typeface="Poppins Semi-Bold"/>
                <a:ea typeface="Poppins Semi-Bold"/>
                <a:cs typeface="Poppins Semi-Bold"/>
                <a:sym typeface="Poppins Semi-Bold"/>
              </a:rPr>
              <a:t>Key Findings</a:t>
            </a:r>
          </a:p>
        </p:txBody>
      </p:sp>
      <p:grpSp>
        <p:nvGrpSpPr>
          <p:cNvPr id="7" name="Group 7"/>
          <p:cNvGrpSpPr/>
          <p:nvPr/>
        </p:nvGrpSpPr>
        <p:grpSpPr>
          <a:xfrm>
            <a:off x="1090277" y="2005732"/>
            <a:ext cx="15463509" cy="861256"/>
            <a:chOff x="0" y="0"/>
            <a:chExt cx="4072694" cy="226833"/>
          </a:xfrm>
        </p:grpSpPr>
        <p:sp>
          <p:nvSpPr>
            <p:cNvPr id="8" name="Freeform 8"/>
            <p:cNvSpPr/>
            <p:nvPr/>
          </p:nvSpPr>
          <p:spPr>
            <a:xfrm>
              <a:off x="0" y="0"/>
              <a:ext cx="4072694" cy="226833"/>
            </a:xfrm>
            <a:custGeom>
              <a:avLst/>
              <a:gdLst/>
              <a:ahLst/>
              <a:cxnLst/>
              <a:rect l="l" t="t" r="r" b="b"/>
              <a:pathLst>
                <a:path w="4072694" h="226833">
                  <a:moveTo>
                    <a:pt x="7510" y="0"/>
                  </a:moveTo>
                  <a:lnTo>
                    <a:pt x="4065184" y="0"/>
                  </a:lnTo>
                  <a:cubicBezTo>
                    <a:pt x="4069331" y="0"/>
                    <a:pt x="4072694" y="3362"/>
                    <a:pt x="4072694" y="7510"/>
                  </a:cubicBezTo>
                  <a:lnTo>
                    <a:pt x="4072694" y="219323"/>
                  </a:lnTo>
                  <a:cubicBezTo>
                    <a:pt x="4072694" y="221315"/>
                    <a:pt x="4071903" y="223225"/>
                    <a:pt x="4070494" y="224633"/>
                  </a:cubicBezTo>
                  <a:cubicBezTo>
                    <a:pt x="4069086" y="226042"/>
                    <a:pt x="4067175" y="226833"/>
                    <a:pt x="4065184" y="226833"/>
                  </a:cubicBezTo>
                  <a:lnTo>
                    <a:pt x="7510" y="226833"/>
                  </a:lnTo>
                  <a:cubicBezTo>
                    <a:pt x="3362" y="226833"/>
                    <a:pt x="0" y="223471"/>
                    <a:pt x="0" y="219323"/>
                  </a:cubicBezTo>
                  <a:lnTo>
                    <a:pt x="0" y="7510"/>
                  </a:lnTo>
                  <a:cubicBezTo>
                    <a:pt x="0" y="5518"/>
                    <a:pt x="791" y="3608"/>
                    <a:pt x="2200" y="2200"/>
                  </a:cubicBezTo>
                  <a:cubicBezTo>
                    <a:pt x="3608" y="791"/>
                    <a:pt x="5518" y="0"/>
                    <a:pt x="7510" y="0"/>
                  </a:cubicBezTo>
                  <a:close/>
                </a:path>
              </a:pathLst>
            </a:custGeom>
            <a:solidFill>
              <a:srgbClr val="BFD9F9"/>
            </a:solidFill>
          </p:spPr>
        </p:sp>
        <p:sp>
          <p:nvSpPr>
            <p:cNvPr id="9" name="TextBox 9"/>
            <p:cNvSpPr txBox="1"/>
            <p:nvPr/>
          </p:nvSpPr>
          <p:spPr>
            <a:xfrm>
              <a:off x="0" y="-47625"/>
              <a:ext cx="4072694" cy="274458"/>
            </a:xfrm>
            <a:prstGeom prst="rect">
              <a:avLst/>
            </a:prstGeom>
          </p:spPr>
          <p:txBody>
            <a:bodyPr lIns="50800" tIns="50800" rIns="50800" bIns="50800" rtlCol="0" anchor="ctr"/>
            <a:lstStyle/>
            <a:p>
              <a:pPr algn="ctr">
                <a:lnSpc>
                  <a:spcPts val="3499"/>
                </a:lnSpc>
              </a:pPr>
              <a:endParaRPr/>
            </a:p>
          </p:txBody>
        </p:sp>
      </p:grpSp>
      <p:grpSp>
        <p:nvGrpSpPr>
          <p:cNvPr id="10" name="Group 10"/>
          <p:cNvGrpSpPr/>
          <p:nvPr/>
        </p:nvGrpSpPr>
        <p:grpSpPr>
          <a:xfrm>
            <a:off x="7725926" y="7756144"/>
            <a:ext cx="562492" cy="452200"/>
            <a:chOff x="0" y="0"/>
            <a:chExt cx="647700" cy="520700"/>
          </a:xfrm>
        </p:grpSpPr>
        <p:sp>
          <p:nvSpPr>
            <p:cNvPr id="11" name="Freeform 11"/>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BFD9F9"/>
            </a:solidFill>
          </p:spPr>
        </p:sp>
        <p:sp>
          <p:nvSpPr>
            <p:cNvPr id="12" name="TextBox 12"/>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7725926" y="4917400"/>
            <a:ext cx="562492" cy="452200"/>
            <a:chOff x="0" y="0"/>
            <a:chExt cx="647700" cy="520700"/>
          </a:xfrm>
        </p:grpSpPr>
        <p:sp>
          <p:nvSpPr>
            <p:cNvPr id="14" name="Freeform 14"/>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BFD9F9"/>
            </a:solidFill>
          </p:spPr>
        </p:sp>
        <p:sp>
          <p:nvSpPr>
            <p:cNvPr id="15" name="TextBox 15"/>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16" name="Group 16"/>
          <p:cNvGrpSpPr/>
          <p:nvPr/>
        </p:nvGrpSpPr>
        <p:grpSpPr>
          <a:xfrm>
            <a:off x="15841226" y="4917400"/>
            <a:ext cx="562492" cy="452200"/>
            <a:chOff x="0" y="0"/>
            <a:chExt cx="647700" cy="520700"/>
          </a:xfrm>
        </p:grpSpPr>
        <p:sp>
          <p:nvSpPr>
            <p:cNvPr id="17" name="Freeform 17"/>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BFD9F9"/>
            </a:solidFill>
          </p:spPr>
        </p:sp>
        <p:sp>
          <p:nvSpPr>
            <p:cNvPr id="18" name="TextBox 18"/>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sp>
        <p:nvSpPr>
          <p:cNvPr id="19" name="TextBox 19"/>
          <p:cNvSpPr txBox="1"/>
          <p:nvPr/>
        </p:nvSpPr>
        <p:spPr>
          <a:xfrm>
            <a:off x="1028700" y="2150165"/>
            <a:ext cx="1141844" cy="843989"/>
          </a:xfrm>
          <a:prstGeom prst="rect">
            <a:avLst/>
          </a:prstGeom>
        </p:spPr>
        <p:txBody>
          <a:bodyPr lIns="0" tIns="0" rIns="0" bIns="0" rtlCol="0" anchor="t">
            <a:spAutoFit/>
          </a:bodyPr>
          <a:lstStyle/>
          <a:p>
            <a:pPr algn="ctr">
              <a:lnSpc>
                <a:spcPts val="5880"/>
              </a:lnSpc>
            </a:pPr>
            <a:r>
              <a:rPr lang="en-US" sz="6000" b="1">
                <a:solidFill>
                  <a:srgbClr val="1E293B"/>
                </a:solidFill>
                <a:latin typeface="Poppins Semi-Bold"/>
                <a:ea typeface="Poppins Semi-Bold"/>
                <a:cs typeface="Poppins Semi-Bold"/>
                <a:sym typeface="Poppins Semi-Bold"/>
              </a:rPr>
              <a:t>01</a:t>
            </a:r>
          </a:p>
        </p:txBody>
      </p:sp>
      <p:sp>
        <p:nvSpPr>
          <p:cNvPr id="20" name="TextBox 20"/>
          <p:cNvSpPr txBox="1"/>
          <p:nvPr/>
        </p:nvSpPr>
        <p:spPr>
          <a:xfrm>
            <a:off x="2773324" y="2243219"/>
            <a:ext cx="9905203"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Prescription volume was evenly distributed among top doctors.</a:t>
            </a:r>
          </a:p>
        </p:txBody>
      </p:sp>
      <p:sp>
        <p:nvSpPr>
          <p:cNvPr id="21" name="AutoShape 21"/>
          <p:cNvSpPr/>
          <p:nvPr/>
        </p:nvSpPr>
        <p:spPr>
          <a:xfrm>
            <a:off x="2446630" y="2005732"/>
            <a:ext cx="0" cy="861256"/>
          </a:xfrm>
          <a:prstGeom prst="line">
            <a:avLst/>
          </a:prstGeom>
          <a:ln w="57150" cap="rnd">
            <a:solidFill>
              <a:srgbClr val="60A5FA"/>
            </a:solidFill>
            <a:prstDash val="solid"/>
            <a:headEnd type="none" w="sm" len="sm"/>
            <a:tailEnd type="none" w="sm" len="sm"/>
          </a:ln>
        </p:spPr>
      </p:sp>
      <p:grpSp>
        <p:nvGrpSpPr>
          <p:cNvPr id="22" name="Group 22"/>
          <p:cNvGrpSpPr/>
          <p:nvPr/>
        </p:nvGrpSpPr>
        <p:grpSpPr>
          <a:xfrm>
            <a:off x="14274909" y="-5128727"/>
            <a:ext cx="4434600" cy="6602751"/>
            <a:chOff x="0" y="0"/>
            <a:chExt cx="497564" cy="740831"/>
          </a:xfrm>
        </p:grpSpPr>
        <p:sp>
          <p:nvSpPr>
            <p:cNvPr id="23" name="Freeform 23"/>
            <p:cNvSpPr/>
            <p:nvPr/>
          </p:nvSpPr>
          <p:spPr>
            <a:xfrm>
              <a:off x="0" y="0"/>
              <a:ext cx="497564" cy="740831"/>
            </a:xfrm>
            <a:custGeom>
              <a:avLst/>
              <a:gdLst/>
              <a:ahLst/>
              <a:cxnLst/>
              <a:rect l="l" t="t" r="r" b="b"/>
              <a:pathLst>
                <a:path w="497564" h="740831">
                  <a:moveTo>
                    <a:pt x="248782" y="0"/>
                  </a:moveTo>
                  <a:cubicBezTo>
                    <a:pt x="111383" y="0"/>
                    <a:pt x="0" y="165841"/>
                    <a:pt x="0" y="370416"/>
                  </a:cubicBezTo>
                  <a:cubicBezTo>
                    <a:pt x="0" y="574990"/>
                    <a:pt x="111383" y="740831"/>
                    <a:pt x="248782" y="740831"/>
                  </a:cubicBezTo>
                  <a:cubicBezTo>
                    <a:pt x="386180" y="740831"/>
                    <a:pt x="497564" y="574990"/>
                    <a:pt x="497564" y="370416"/>
                  </a:cubicBezTo>
                  <a:cubicBezTo>
                    <a:pt x="497564" y="165841"/>
                    <a:pt x="386180" y="0"/>
                    <a:pt x="248782"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id="24" name="TextBox 24"/>
            <p:cNvSpPr txBox="1"/>
            <p:nvPr/>
          </p:nvSpPr>
          <p:spPr>
            <a:xfrm>
              <a:off x="46647" y="21828"/>
              <a:ext cx="404271" cy="649550"/>
            </a:xfrm>
            <a:prstGeom prst="rect">
              <a:avLst/>
            </a:prstGeom>
          </p:spPr>
          <p:txBody>
            <a:bodyPr lIns="50800" tIns="50800" rIns="50800" bIns="50800" rtlCol="0" anchor="ctr"/>
            <a:lstStyle/>
            <a:p>
              <a:pPr algn="ctr">
                <a:lnSpc>
                  <a:spcPts val="3499"/>
                </a:lnSpc>
              </a:pPr>
              <a:endParaRPr/>
            </a:p>
          </p:txBody>
        </p:sp>
      </p:grpSp>
      <p:grpSp>
        <p:nvGrpSpPr>
          <p:cNvPr id="25" name="Group 25"/>
          <p:cNvGrpSpPr/>
          <p:nvPr/>
        </p:nvGrpSpPr>
        <p:grpSpPr>
          <a:xfrm>
            <a:off x="1090277" y="3360819"/>
            <a:ext cx="15463509" cy="861256"/>
            <a:chOff x="0" y="0"/>
            <a:chExt cx="4072694" cy="226833"/>
          </a:xfrm>
        </p:grpSpPr>
        <p:sp>
          <p:nvSpPr>
            <p:cNvPr id="26" name="Freeform 26"/>
            <p:cNvSpPr/>
            <p:nvPr/>
          </p:nvSpPr>
          <p:spPr>
            <a:xfrm>
              <a:off x="0" y="0"/>
              <a:ext cx="4072694" cy="226833"/>
            </a:xfrm>
            <a:custGeom>
              <a:avLst/>
              <a:gdLst/>
              <a:ahLst/>
              <a:cxnLst/>
              <a:rect l="l" t="t" r="r" b="b"/>
              <a:pathLst>
                <a:path w="4072694" h="226833">
                  <a:moveTo>
                    <a:pt x="7510" y="0"/>
                  </a:moveTo>
                  <a:lnTo>
                    <a:pt x="4065184" y="0"/>
                  </a:lnTo>
                  <a:cubicBezTo>
                    <a:pt x="4069331" y="0"/>
                    <a:pt x="4072694" y="3362"/>
                    <a:pt x="4072694" y="7510"/>
                  </a:cubicBezTo>
                  <a:lnTo>
                    <a:pt x="4072694" y="219323"/>
                  </a:lnTo>
                  <a:cubicBezTo>
                    <a:pt x="4072694" y="221315"/>
                    <a:pt x="4071903" y="223225"/>
                    <a:pt x="4070494" y="224633"/>
                  </a:cubicBezTo>
                  <a:cubicBezTo>
                    <a:pt x="4069086" y="226042"/>
                    <a:pt x="4067175" y="226833"/>
                    <a:pt x="4065184" y="226833"/>
                  </a:cubicBezTo>
                  <a:lnTo>
                    <a:pt x="7510" y="226833"/>
                  </a:lnTo>
                  <a:cubicBezTo>
                    <a:pt x="3362" y="226833"/>
                    <a:pt x="0" y="223471"/>
                    <a:pt x="0" y="219323"/>
                  </a:cubicBezTo>
                  <a:lnTo>
                    <a:pt x="0" y="7510"/>
                  </a:lnTo>
                  <a:cubicBezTo>
                    <a:pt x="0" y="5518"/>
                    <a:pt x="791" y="3608"/>
                    <a:pt x="2200" y="2200"/>
                  </a:cubicBezTo>
                  <a:cubicBezTo>
                    <a:pt x="3608" y="791"/>
                    <a:pt x="5518" y="0"/>
                    <a:pt x="7510" y="0"/>
                  </a:cubicBezTo>
                  <a:close/>
                </a:path>
              </a:pathLst>
            </a:custGeom>
            <a:solidFill>
              <a:srgbClr val="BFD9F9"/>
            </a:solidFill>
          </p:spPr>
        </p:sp>
        <p:sp>
          <p:nvSpPr>
            <p:cNvPr id="27" name="TextBox 27"/>
            <p:cNvSpPr txBox="1"/>
            <p:nvPr/>
          </p:nvSpPr>
          <p:spPr>
            <a:xfrm>
              <a:off x="0" y="-47625"/>
              <a:ext cx="4072694" cy="274458"/>
            </a:xfrm>
            <a:prstGeom prst="rect">
              <a:avLst/>
            </a:prstGeom>
          </p:spPr>
          <p:txBody>
            <a:bodyPr lIns="50800" tIns="50800" rIns="50800" bIns="50800" rtlCol="0" anchor="ctr"/>
            <a:lstStyle/>
            <a:p>
              <a:pPr algn="ctr">
                <a:lnSpc>
                  <a:spcPts val="3499"/>
                </a:lnSpc>
              </a:pPr>
              <a:endParaRPr/>
            </a:p>
          </p:txBody>
        </p:sp>
      </p:grpSp>
      <p:sp>
        <p:nvSpPr>
          <p:cNvPr id="28" name="TextBox 28"/>
          <p:cNvSpPr txBox="1"/>
          <p:nvPr/>
        </p:nvSpPr>
        <p:spPr>
          <a:xfrm>
            <a:off x="1090277" y="3427494"/>
            <a:ext cx="1141844" cy="843915"/>
          </a:xfrm>
          <a:prstGeom prst="rect">
            <a:avLst/>
          </a:prstGeom>
        </p:spPr>
        <p:txBody>
          <a:bodyPr lIns="0" tIns="0" rIns="0" bIns="0" rtlCol="0" anchor="t">
            <a:spAutoFit/>
          </a:bodyPr>
          <a:lstStyle/>
          <a:p>
            <a:pPr algn="ctr">
              <a:lnSpc>
                <a:spcPts val="5880"/>
              </a:lnSpc>
            </a:pPr>
            <a:r>
              <a:rPr lang="en-US" sz="6000" b="1">
                <a:solidFill>
                  <a:srgbClr val="1E293B"/>
                </a:solidFill>
                <a:latin typeface="Poppins Semi-Bold"/>
                <a:ea typeface="Poppins Semi-Bold"/>
                <a:cs typeface="Poppins Semi-Bold"/>
                <a:sym typeface="Poppins Semi-Bold"/>
              </a:rPr>
              <a:t>02</a:t>
            </a:r>
          </a:p>
        </p:txBody>
      </p:sp>
      <p:sp>
        <p:nvSpPr>
          <p:cNvPr id="29" name="AutoShape 29"/>
          <p:cNvSpPr/>
          <p:nvPr/>
        </p:nvSpPr>
        <p:spPr>
          <a:xfrm>
            <a:off x="2475205" y="3400388"/>
            <a:ext cx="0" cy="861256"/>
          </a:xfrm>
          <a:prstGeom prst="line">
            <a:avLst/>
          </a:prstGeom>
          <a:ln w="57150" cap="rnd">
            <a:solidFill>
              <a:srgbClr val="60A5FA"/>
            </a:solidFill>
            <a:prstDash val="solid"/>
            <a:headEnd type="none" w="sm" len="sm"/>
            <a:tailEnd type="none" w="sm" len="sm"/>
          </a:ln>
        </p:spPr>
      </p:sp>
      <p:grpSp>
        <p:nvGrpSpPr>
          <p:cNvPr id="30" name="Group 30"/>
          <p:cNvGrpSpPr/>
          <p:nvPr/>
        </p:nvGrpSpPr>
        <p:grpSpPr>
          <a:xfrm>
            <a:off x="1090277" y="4871244"/>
            <a:ext cx="15463509" cy="861256"/>
            <a:chOff x="0" y="0"/>
            <a:chExt cx="4072694" cy="226833"/>
          </a:xfrm>
        </p:grpSpPr>
        <p:sp>
          <p:nvSpPr>
            <p:cNvPr id="31" name="Freeform 31"/>
            <p:cNvSpPr/>
            <p:nvPr/>
          </p:nvSpPr>
          <p:spPr>
            <a:xfrm>
              <a:off x="0" y="0"/>
              <a:ext cx="4072694" cy="226833"/>
            </a:xfrm>
            <a:custGeom>
              <a:avLst/>
              <a:gdLst/>
              <a:ahLst/>
              <a:cxnLst/>
              <a:rect l="l" t="t" r="r" b="b"/>
              <a:pathLst>
                <a:path w="4072694" h="226833">
                  <a:moveTo>
                    <a:pt x="7510" y="0"/>
                  </a:moveTo>
                  <a:lnTo>
                    <a:pt x="4065184" y="0"/>
                  </a:lnTo>
                  <a:cubicBezTo>
                    <a:pt x="4069331" y="0"/>
                    <a:pt x="4072694" y="3362"/>
                    <a:pt x="4072694" y="7510"/>
                  </a:cubicBezTo>
                  <a:lnTo>
                    <a:pt x="4072694" y="219323"/>
                  </a:lnTo>
                  <a:cubicBezTo>
                    <a:pt x="4072694" y="221315"/>
                    <a:pt x="4071903" y="223225"/>
                    <a:pt x="4070494" y="224633"/>
                  </a:cubicBezTo>
                  <a:cubicBezTo>
                    <a:pt x="4069086" y="226042"/>
                    <a:pt x="4067175" y="226833"/>
                    <a:pt x="4065184" y="226833"/>
                  </a:cubicBezTo>
                  <a:lnTo>
                    <a:pt x="7510" y="226833"/>
                  </a:lnTo>
                  <a:cubicBezTo>
                    <a:pt x="3362" y="226833"/>
                    <a:pt x="0" y="223471"/>
                    <a:pt x="0" y="219323"/>
                  </a:cubicBezTo>
                  <a:lnTo>
                    <a:pt x="0" y="7510"/>
                  </a:lnTo>
                  <a:cubicBezTo>
                    <a:pt x="0" y="5518"/>
                    <a:pt x="791" y="3608"/>
                    <a:pt x="2200" y="2200"/>
                  </a:cubicBezTo>
                  <a:cubicBezTo>
                    <a:pt x="3608" y="791"/>
                    <a:pt x="5518" y="0"/>
                    <a:pt x="7510" y="0"/>
                  </a:cubicBezTo>
                  <a:close/>
                </a:path>
              </a:pathLst>
            </a:custGeom>
            <a:solidFill>
              <a:srgbClr val="BFD9F9"/>
            </a:solidFill>
          </p:spPr>
        </p:sp>
        <p:sp>
          <p:nvSpPr>
            <p:cNvPr id="32" name="TextBox 32"/>
            <p:cNvSpPr txBox="1"/>
            <p:nvPr/>
          </p:nvSpPr>
          <p:spPr>
            <a:xfrm>
              <a:off x="0" y="-47625"/>
              <a:ext cx="4072694" cy="274458"/>
            </a:xfrm>
            <a:prstGeom prst="rect">
              <a:avLst/>
            </a:prstGeom>
          </p:spPr>
          <p:txBody>
            <a:bodyPr lIns="50800" tIns="50800" rIns="50800" bIns="50800" rtlCol="0" anchor="ctr"/>
            <a:lstStyle/>
            <a:p>
              <a:pPr algn="ctr">
                <a:lnSpc>
                  <a:spcPts val="3499"/>
                </a:lnSpc>
              </a:pPr>
              <a:endParaRPr/>
            </a:p>
          </p:txBody>
        </p:sp>
      </p:grpSp>
      <p:sp>
        <p:nvSpPr>
          <p:cNvPr id="33" name="TextBox 33"/>
          <p:cNvSpPr txBox="1"/>
          <p:nvPr/>
        </p:nvSpPr>
        <p:spPr>
          <a:xfrm>
            <a:off x="1090277" y="4913253"/>
            <a:ext cx="1141844" cy="843915"/>
          </a:xfrm>
          <a:prstGeom prst="rect">
            <a:avLst/>
          </a:prstGeom>
        </p:spPr>
        <p:txBody>
          <a:bodyPr lIns="0" tIns="0" rIns="0" bIns="0" rtlCol="0" anchor="t">
            <a:spAutoFit/>
          </a:bodyPr>
          <a:lstStyle/>
          <a:p>
            <a:pPr algn="ctr">
              <a:lnSpc>
                <a:spcPts val="5880"/>
              </a:lnSpc>
            </a:pPr>
            <a:r>
              <a:rPr lang="en-US" sz="6000" b="1">
                <a:solidFill>
                  <a:srgbClr val="1E293B"/>
                </a:solidFill>
                <a:latin typeface="Poppins Semi-Bold"/>
                <a:ea typeface="Poppins Semi-Bold"/>
                <a:cs typeface="Poppins Semi-Bold"/>
                <a:sym typeface="Poppins Semi-Bold"/>
              </a:rPr>
              <a:t>03</a:t>
            </a:r>
          </a:p>
        </p:txBody>
      </p:sp>
      <p:grpSp>
        <p:nvGrpSpPr>
          <p:cNvPr id="34" name="Group 34"/>
          <p:cNvGrpSpPr/>
          <p:nvPr/>
        </p:nvGrpSpPr>
        <p:grpSpPr>
          <a:xfrm>
            <a:off x="1090277" y="6385818"/>
            <a:ext cx="15463509" cy="861256"/>
            <a:chOff x="0" y="0"/>
            <a:chExt cx="4072694" cy="226833"/>
          </a:xfrm>
        </p:grpSpPr>
        <p:sp>
          <p:nvSpPr>
            <p:cNvPr id="35" name="Freeform 35"/>
            <p:cNvSpPr/>
            <p:nvPr/>
          </p:nvSpPr>
          <p:spPr>
            <a:xfrm>
              <a:off x="0" y="0"/>
              <a:ext cx="4072694" cy="226833"/>
            </a:xfrm>
            <a:custGeom>
              <a:avLst/>
              <a:gdLst/>
              <a:ahLst/>
              <a:cxnLst/>
              <a:rect l="l" t="t" r="r" b="b"/>
              <a:pathLst>
                <a:path w="4072694" h="226833">
                  <a:moveTo>
                    <a:pt x="7510" y="0"/>
                  </a:moveTo>
                  <a:lnTo>
                    <a:pt x="4065184" y="0"/>
                  </a:lnTo>
                  <a:cubicBezTo>
                    <a:pt x="4069331" y="0"/>
                    <a:pt x="4072694" y="3362"/>
                    <a:pt x="4072694" y="7510"/>
                  </a:cubicBezTo>
                  <a:lnTo>
                    <a:pt x="4072694" y="219323"/>
                  </a:lnTo>
                  <a:cubicBezTo>
                    <a:pt x="4072694" y="221315"/>
                    <a:pt x="4071903" y="223225"/>
                    <a:pt x="4070494" y="224633"/>
                  </a:cubicBezTo>
                  <a:cubicBezTo>
                    <a:pt x="4069086" y="226042"/>
                    <a:pt x="4067175" y="226833"/>
                    <a:pt x="4065184" y="226833"/>
                  </a:cubicBezTo>
                  <a:lnTo>
                    <a:pt x="7510" y="226833"/>
                  </a:lnTo>
                  <a:cubicBezTo>
                    <a:pt x="3362" y="226833"/>
                    <a:pt x="0" y="223471"/>
                    <a:pt x="0" y="219323"/>
                  </a:cubicBezTo>
                  <a:lnTo>
                    <a:pt x="0" y="7510"/>
                  </a:lnTo>
                  <a:cubicBezTo>
                    <a:pt x="0" y="5518"/>
                    <a:pt x="791" y="3608"/>
                    <a:pt x="2200" y="2200"/>
                  </a:cubicBezTo>
                  <a:cubicBezTo>
                    <a:pt x="3608" y="791"/>
                    <a:pt x="5518" y="0"/>
                    <a:pt x="7510" y="0"/>
                  </a:cubicBezTo>
                  <a:close/>
                </a:path>
              </a:pathLst>
            </a:custGeom>
            <a:solidFill>
              <a:srgbClr val="BFD9F9"/>
            </a:solidFill>
          </p:spPr>
        </p:sp>
        <p:sp>
          <p:nvSpPr>
            <p:cNvPr id="36" name="TextBox 36"/>
            <p:cNvSpPr txBox="1"/>
            <p:nvPr/>
          </p:nvSpPr>
          <p:spPr>
            <a:xfrm>
              <a:off x="0" y="-47625"/>
              <a:ext cx="4072694" cy="274458"/>
            </a:xfrm>
            <a:prstGeom prst="rect">
              <a:avLst/>
            </a:prstGeom>
          </p:spPr>
          <p:txBody>
            <a:bodyPr lIns="50800" tIns="50800" rIns="50800" bIns="50800" rtlCol="0" anchor="ctr"/>
            <a:lstStyle/>
            <a:p>
              <a:pPr algn="ctr">
                <a:lnSpc>
                  <a:spcPts val="3499"/>
                </a:lnSpc>
              </a:pPr>
              <a:endParaRPr/>
            </a:p>
          </p:txBody>
        </p:sp>
      </p:grpSp>
      <p:sp>
        <p:nvSpPr>
          <p:cNvPr id="37" name="TextBox 37"/>
          <p:cNvSpPr txBox="1"/>
          <p:nvPr/>
        </p:nvSpPr>
        <p:spPr>
          <a:xfrm>
            <a:off x="1090277" y="6452493"/>
            <a:ext cx="1141844" cy="843915"/>
          </a:xfrm>
          <a:prstGeom prst="rect">
            <a:avLst/>
          </a:prstGeom>
        </p:spPr>
        <p:txBody>
          <a:bodyPr lIns="0" tIns="0" rIns="0" bIns="0" rtlCol="0" anchor="t">
            <a:spAutoFit/>
          </a:bodyPr>
          <a:lstStyle/>
          <a:p>
            <a:pPr algn="ctr">
              <a:lnSpc>
                <a:spcPts val="5880"/>
              </a:lnSpc>
            </a:pPr>
            <a:r>
              <a:rPr lang="en-US" sz="6000" b="1">
                <a:solidFill>
                  <a:srgbClr val="1E293B"/>
                </a:solidFill>
                <a:latin typeface="Poppins Semi-Bold"/>
                <a:ea typeface="Poppins Semi-Bold"/>
                <a:cs typeface="Poppins Semi-Bold"/>
                <a:sym typeface="Poppins Semi-Bold"/>
              </a:rPr>
              <a:t>04</a:t>
            </a:r>
          </a:p>
        </p:txBody>
      </p:sp>
      <p:sp>
        <p:nvSpPr>
          <p:cNvPr id="38" name="AutoShape 38"/>
          <p:cNvSpPr/>
          <p:nvPr/>
        </p:nvSpPr>
        <p:spPr>
          <a:xfrm>
            <a:off x="2475205" y="4871244"/>
            <a:ext cx="0" cy="861256"/>
          </a:xfrm>
          <a:prstGeom prst="line">
            <a:avLst/>
          </a:prstGeom>
          <a:ln w="57150" cap="rnd">
            <a:solidFill>
              <a:srgbClr val="60A5FA"/>
            </a:solidFill>
            <a:prstDash val="solid"/>
            <a:headEnd type="none" w="sm" len="sm"/>
            <a:tailEnd type="none" w="sm" len="sm"/>
          </a:ln>
        </p:spPr>
      </p:sp>
      <p:sp>
        <p:nvSpPr>
          <p:cNvPr id="39" name="AutoShape 39"/>
          <p:cNvSpPr/>
          <p:nvPr/>
        </p:nvSpPr>
        <p:spPr>
          <a:xfrm>
            <a:off x="2418055" y="6380201"/>
            <a:ext cx="0" cy="861256"/>
          </a:xfrm>
          <a:prstGeom prst="line">
            <a:avLst/>
          </a:prstGeom>
          <a:ln w="57150" cap="rnd">
            <a:solidFill>
              <a:srgbClr val="60A5FA"/>
            </a:solidFill>
            <a:prstDash val="solid"/>
            <a:headEnd type="none" w="sm" len="sm"/>
            <a:tailEnd type="none" w="sm" len="sm"/>
          </a:ln>
        </p:spPr>
      </p:sp>
      <p:grpSp>
        <p:nvGrpSpPr>
          <p:cNvPr id="40" name="Group 40"/>
          <p:cNvGrpSpPr/>
          <p:nvPr/>
        </p:nvGrpSpPr>
        <p:grpSpPr>
          <a:xfrm>
            <a:off x="1090277" y="7867908"/>
            <a:ext cx="15463509" cy="861256"/>
            <a:chOff x="0" y="0"/>
            <a:chExt cx="4072694" cy="226833"/>
          </a:xfrm>
        </p:grpSpPr>
        <p:sp>
          <p:nvSpPr>
            <p:cNvPr id="41" name="Freeform 41"/>
            <p:cNvSpPr/>
            <p:nvPr/>
          </p:nvSpPr>
          <p:spPr>
            <a:xfrm>
              <a:off x="0" y="0"/>
              <a:ext cx="4072694" cy="226833"/>
            </a:xfrm>
            <a:custGeom>
              <a:avLst/>
              <a:gdLst/>
              <a:ahLst/>
              <a:cxnLst/>
              <a:rect l="l" t="t" r="r" b="b"/>
              <a:pathLst>
                <a:path w="4072694" h="226833">
                  <a:moveTo>
                    <a:pt x="7510" y="0"/>
                  </a:moveTo>
                  <a:lnTo>
                    <a:pt x="4065184" y="0"/>
                  </a:lnTo>
                  <a:cubicBezTo>
                    <a:pt x="4069331" y="0"/>
                    <a:pt x="4072694" y="3362"/>
                    <a:pt x="4072694" y="7510"/>
                  </a:cubicBezTo>
                  <a:lnTo>
                    <a:pt x="4072694" y="219323"/>
                  </a:lnTo>
                  <a:cubicBezTo>
                    <a:pt x="4072694" y="221315"/>
                    <a:pt x="4071903" y="223225"/>
                    <a:pt x="4070494" y="224633"/>
                  </a:cubicBezTo>
                  <a:cubicBezTo>
                    <a:pt x="4069086" y="226042"/>
                    <a:pt x="4067175" y="226833"/>
                    <a:pt x="4065184" y="226833"/>
                  </a:cubicBezTo>
                  <a:lnTo>
                    <a:pt x="7510" y="226833"/>
                  </a:lnTo>
                  <a:cubicBezTo>
                    <a:pt x="3362" y="226833"/>
                    <a:pt x="0" y="223471"/>
                    <a:pt x="0" y="219323"/>
                  </a:cubicBezTo>
                  <a:lnTo>
                    <a:pt x="0" y="7510"/>
                  </a:lnTo>
                  <a:cubicBezTo>
                    <a:pt x="0" y="5518"/>
                    <a:pt x="791" y="3608"/>
                    <a:pt x="2200" y="2200"/>
                  </a:cubicBezTo>
                  <a:cubicBezTo>
                    <a:pt x="3608" y="791"/>
                    <a:pt x="5518" y="0"/>
                    <a:pt x="7510" y="0"/>
                  </a:cubicBezTo>
                  <a:close/>
                </a:path>
              </a:pathLst>
            </a:custGeom>
            <a:solidFill>
              <a:srgbClr val="BFD9F9"/>
            </a:solidFill>
          </p:spPr>
        </p:sp>
        <p:sp>
          <p:nvSpPr>
            <p:cNvPr id="42" name="TextBox 42"/>
            <p:cNvSpPr txBox="1"/>
            <p:nvPr/>
          </p:nvSpPr>
          <p:spPr>
            <a:xfrm>
              <a:off x="0" y="-47625"/>
              <a:ext cx="4072694" cy="274458"/>
            </a:xfrm>
            <a:prstGeom prst="rect">
              <a:avLst/>
            </a:prstGeom>
          </p:spPr>
          <p:txBody>
            <a:bodyPr lIns="50800" tIns="50800" rIns="50800" bIns="50800" rtlCol="0" anchor="ctr"/>
            <a:lstStyle/>
            <a:p>
              <a:pPr algn="ctr">
                <a:lnSpc>
                  <a:spcPts val="3499"/>
                </a:lnSpc>
              </a:pPr>
              <a:endParaRPr/>
            </a:p>
          </p:txBody>
        </p:sp>
      </p:grpSp>
      <p:sp>
        <p:nvSpPr>
          <p:cNvPr id="43" name="TextBox 43"/>
          <p:cNvSpPr txBox="1"/>
          <p:nvPr/>
        </p:nvSpPr>
        <p:spPr>
          <a:xfrm>
            <a:off x="1090277" y="7885249"/>
            <a:ext cx="1141844" cy="843915"/>
          </a:xfrm>
          <a:prstGeom prst="rect">
            <a:avLst/>
          </a:prstGeom>
        </p:spPr>
        <p:txBody>
          <a:bodyPr lIns="0" tIns="0" rIns="0" bIns="0" rtlCol="0" anchor="t">
            <a:spAutoFit/>
          </a:bodyPr>
          <a:lstStyle/>
          <a:p>
            <a:pPr algn="ctr">
              <a:lnSpc>
                <a:spcPts val="5880"/>
              </a:lnSpc>
            </a:pPr>
            <a:r>
              <a:rPr lang="en-US" sz="6000" b="1">
                <a:solidFill>
                  <a:srgbClr val="1E293B"/>
                </a:solidFill>
                <a:latin typeface="Poppins Semi-Bold"/>
                <a:ea typeface="Poppins Semi-Bold"/>
                <a:cs typeface="Poppins Semi-Bold"/>
                <a:sym typeface="Poppins Semi-Bold"/>
              </a:rPr>
              <a:t>05</a:t>
            </a:r>
          </a:p>
        </p:txBody>
      </p:sp>
      <p:sp>
        <p:nvSpPr>
          <p:cNvPr id="44" name="AutoShape 44"/>
          <p:cNvSpPr/>
          <p:nvPr/>
        </p:nvSpPr>
        <p:spPr>
          <a:xfrm>
            <a:off x="2446630" y="7904299"/>
            <a:ext cx="0" cy="861256"/>
          </a:xfrm>
          <a:prstGeom prst="line">
            <a:avLst/>
          </a:prstGeom>
          <a:ln w="57150" cap="rnd">
            <a:solidFill>
              <a:srgbClr val="60A5FA"/>
            </a:solidFill>
            <a:prstDash val="solid"/>
            <a:headEnd type="none" w="sm" len="sm"/>
            <a:tailEnd type="none" w="sm" len="sm"/>
          </a:ln>
        </p:spPr>
      </p:sp>
      <p:sp>
        <p:nvSpPr>
          <p:cNvPr id="45" name="TextBox 45"/>
          <p:cNvSpPr txBox="1"/>
          <p:nvPr/>
        </p:nvSpPr>
        <p:spPr>
          <a:xfrm>
            <a:off x="2773324" y="3556497"/>
            <a:ext cx="11501585"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Endocrinology recorded the highest prescription share among specialties.</a:t>
            </a:r>
          </a:p>
        </p:txBody>
      </p:sp>
      <p:sp>
        <p:nvSpPr>
          <p:cNvPr id="46" name="TextBox 46"/>
          <p:cNvSpPr txBox="1"/>
          <p:nvPr/>
        </p:nvSpPr>
        <p:spPr>
          <a:xfrm>
            <a:off x="2773324" y="5020568"/>
            <a:ext cx="13718885"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Hypertension, Asthma, and Tuberculosis shows strong medicine-specific treatment patterns.</a:t>
            </a:r>
          </a:p>
        </p:txBody>
      </p:sp>
      <p:sp>
        <p:nvSpPr>
          <p:cNvPr id="47" name="TextBox 47"/>
          <p:cNvSpPr txBox="1"/>
          <p:nvPr/>
        </p:nvSpPr>
        <p:spPr>
          <a:xfrm>
            <a:off x="2773324" y="6504026"/>
            <a:ext cx="11343178"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Average prescription duration remained consistent at around 16–17 days.</a:t>
            </a:r>
          </a:p>
        </p:txBody>
      </p:sp>
      <p:sp>
        <p:nvSpPr>
          <p:cNvPr id="48" name="TextBox 48"/>
          <p:cNvSpPr txBox="1"/>
          <p:nvPr/>
        </p:nvSpPr>
        <p:spPr>
          <a:xfrm>
            <a:off x="2773324" y="8063586"/>
            <a:ext cx="9455554" cy="422275"/>
          </a:xfrm>
          <a:prstGeom prst="rect">
            <a:avLst/>
          </a:prstGeom>
        </p:spPr>
        <p:txBody>
          <a:bodyPr lIns="0" tIns="0" rIns="0" bIns="0" rtlCol="0" anchor="t">
            <a:spAutoFit/>
          </a:bodyPr>
          <a:lstStyle/>
          <a:p>
            <a:pPr algn="l">
              <a:lnSpc>
                <a:spcPts val="3499"/>
              </a:lnSpc>
            </a:pPr>
            <a:r>
              <a:rPr lang="en-US" sz="2499">
                <a:solidFill>
                  <a:srgbClr val="1E293B"/>
                </a:solidFill>
                <a:latin typeface="Open Sans"/>
                <a:ea typeface="Open Sans"/>
                <a:cs typeface="Open Sans"/>
                <a:sym typeface="Open Sans"/>
              </a:rPr>
              <a:t>Key medicines showed high prescription demand.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7440992" y="9439992"/>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1114425"/>
            <a:ext cx="6978472" cy="1023116"/>
          </a:xfrm>
          <a:prstGeom prst="rect">
            <a:avLst/>
          </a:prstGeom>
        </p:spPr>
        <p:txBody>
          <a:bodyPr lIns="0" tIns="0" rIns="0" bIns="0" rtlCol="0" anchor="t">
            <a:spAutoFit/>
          </a:bodyPr>
          <a:lstStyle/>
          <a:p>
            <a:pPr algn="l">
              <a:lnSpc>
                <a:spcPts val="7154"/>
              </a:lnSpc>
            </a:pPr>
            <a:r>
              <a:rPr lang="en-US" sz="7300" b="1">
                <a:solidFill>
                  <a:srgbClr val="1E293B"/>
                </a:solidFill>
                <a:latin typeface="Poppins Semi-Bold"/>
                <a:ea typeface="Poppins Semi-Bold"/>
                <a:cs typeface="Poppins Semi-Bold"/>
                <a:sym typeface="Poppins Semi-Bold"/>
              </a:rPr>
              <a:t>Conclusion</a:t>
            </a:r>
          </a:p>
        </p:txBody>
      </p:sp>
      <p:sp>
        <p:nvSpPr>
          <p:cNvPr id="7" name="TextBox 7"/>
          <p:cNvSpPr txBox="1"/>
          <p:nvPr/>
        </p:nvSpPr>
        <p:spPr>
          <a:xfrm>
            <a:off x="1534539" y="2210381"/>
            <a:ext cx="15218921" cy="6270318"/>
          </a:xfrm>
          <a:prstGeom prst="rect">
            <a:avLst/>
          </a:prstGeom>
        </p:spPr>
        <p:txBody>
          <a:bodyPr lIns="0" tIns="0" rIns="0" bIns="0" rtlCol="0" anchor="t">
            <a:spAutoFit/>
          </a:bodyPr>
          <a:lstStyle/>
          <a:p>
            <a:pPr marL="606442" lvl="1" indent="-303221" algn="just">
              <a:lnSpc>
                <a:spcPts val="5589"/>
              </a:lnSpc>
              <a:buFont typeface="Arial"/>
              <a:buChar char="•"/>
            </a:pPr>
            <a:r>
              <a:rPr lang="en-US" sz="2808" b="1">
                <a:solidFill>
                  <a:srgbClr val="1E293B"/>
                </a:solidFill>
                <a:latin typeface="Open Sans Bold"/>
                <a:ea typeface="Open Sans Bold"/>
                <a:cs typeface="Open Sans Bold"/>
                <a:sym typeface="Open Sans Bold"/>
              </a:rPr>
              <a:t>This project successfully analyzes healthcare prescription data to identify important patterns related to patients, doctors, diseases, and medicines. By using Python, Pandas, and MySQL, the raw data is cleaned, stored, and processed to generate meaningful insights.</a:t>
            </a:r>
          </a:p>
          <a:p>
            <a:pPr marL="606442" lvl="1" indent="-303221" algn="just">
              <a:lnSpc>
                <a:spcPts val="5589"/>
              </a:lnSpc>
              <a:buFont typeface="Arial"/>
              <a:buChar char="•"/>
            </a:pPr>
            <a:r>
              <a:rPr lang="en-US" sz="2808" b="1">
                <a:solidFill>
                  <a:srgbClr val="1E293B"/>
                </a:solidFill>
                <a:latin typeface="Open Sans Bold"/>
                <a:ea typeface="Open Sans Bold"/>
                <a:cs typeface="Open Sans Bold"/>
                <a:sym typeface="Open Sans Bold"/>
              </a:rPr>
              <a:t>The visualizations and analysis help in understanding prescription trends, doctor performance, and patient revisit behavior. The CLI-based system makes it easy to interact with the data and retrieve results efficiently.</a:t>
            </a:r>
          </a:p>
          <a:p>
            <a:pPr marL="606442" lvl="1" indent="-303221" algn="just">
              <a:lnSpc>
                <a:spcPts val="5589"/>
              </a:lnSpc>
              <a:buFont typeface="Arial"/>
              <a:buChar char="•"/>
            </a:pPr>
            <a:r>
              <a:rPr lang="en-US" sz="2808" b="1">
                <a:solidFill>
                  <a:srgbClr val="1E293B"/>
                </a:solidFill>
                <a:latin typeface="Open Sans Bold"/>
                <a:ea typeface="Open Sans Bold"/>
                <a:cs typeface="Open Sans Bold"/>
                <a:sym typeface="Open Sans Bold"/>
              </a:rPr>
              <a:t>Overall, this project demonstrates how data analytics can be effectively used in healthcare to support better decision-making and improve system efficiency.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587266" y="4003097"/>
            <a:ext cx="4190425" cy="482427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8" name="Group 8"/>
          <p:cNvGrpSpPr/>
          <p:nvPr/>
        </p:nvGrpSpPr>
        <p:grpSpPr>
          <a:xfrm>
            <a:off x="10927814" y="3839203"/>
            <a:ext cx="5372089" cy="508596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1" name="Group 11"/>
          <p:cNvGrpSpPr/>
          <p:nvPr/>
        </p:nvGrpSpPr>
        <p:grpSpPr>
          <a:xfrm>
            <a:off x="10170151" y="514170"/>
            <a:ext cx="7244181" cy="619128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sp>
        <p:nvSpPr>
          <p:cNvPr id="14" name="TextBox 14"/>
          <p:cNvSpPr txBox="1"/>
          <p:nvPr/>
        </p:nvSpPr>
        <p:spPr>
          <a:xfrm>
            <a:off x="1028700" y="3055194"/>
            <a:ext cx="953768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Thank</a:t>
            </a:r>
          </a:p>
        </p:txBody>
      </p:sp>
      <p:sp>
        <p:nvSpPr>
          <p:cNvPr id="15" name="TextBox 15"/>
          <p:cNvSpPr txBox="1"/>
          <p:nvPr/>
        </p:nvSpPr>
        <p:spPr>
          <a:xfrm>
            <a:off x="5984183" y="3055194"/>
            <a:ext cx="764062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You</a:t>
            </a:r>
          </a:p>
        </p:txBody>
      </p:sp>
      <p:grpSp>
        <p:nvGrpSpPr>
          <p:cNvPr id="16" name="Group 16"/>
          <p:cNvGrpSpPr/>
          <p:nvPr/>
        </p:nvGrpSpPr>
        <p:grpSpPr>
          <a:xfrm>
            <a:off x="3657600" y="6972300"/>
            <a:ext cx="562492" cy="452200"/>
            <a:chOff x="0" y="0"/>
            <a:chExt cx="647700" cy="520700"/>
          </a:xfrm>
        </p:grpSpPr>
        <p:sp>
          <p:nvSpPr>
            <p:cNvPr id="17" name="Freeform 17"/>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BFD9F9"/>
            </a:solidFill>
          </p:spPr>
        </p:sp>
        <p:sp>
          <p:nvSpPr>
            <p:cNvPr id="18" name="TextBox 18"/>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grpSp>
        <p:nvGrpSpPr>
          <p:cNvPr id="19" name="Group 19"/>
          <p:cNvGrpSpPr/>
          <p:nvPr/>
        </p:nvGrpSpPr>
        <p:grpSpPr>
          <a:xfrm>
            <a:off x="9242005" y="340234"/>
            <a:ext cx="562492" cy="452200"/>
            <a:chOff x="0" y="0"/>
            <a:chExt cx="647700" cy="520700"/>
          </a:xfrm>
        </p:grpSpPr>
        <p:sp>
          <p:nvSpPr>
            <p:cNvPr id="20" name="Freeform 20"/>
            <p:cNvSpPr/>
            <p:nvPr/>
          </p:nvSpPr>
          <p:spPr>
            <a:xfrm>
              <a:off x="0" y="0"/>
              <a:ext cx="647700" cy="520700"/>
            </a:xfrm>
            <a:custGeom>
              <a:avLst/>
              <a:gdLst/>
              <a:ahLst/>
              <a:cxnLst/>
              <a:rect l="l" t="t" r="r" b="b"/>
              <a:pathLst>
                <a:path w="647700" h="520700">
                  <a:moveTo>
                    <a:pt x="323850" y="0"/>
                  </a:moveTo>
                  <a:lnTo>
                    <a:pt x="647700" y="260350"/>
                  </a:lnTo>
                  <a:lnTo>
                    <a:pt x="323850" y="520700"/>
                  </a:lnTo>
                  <a:lnTo>
                    <a:pt x="0" y="260350"/>
                  </a:lnTo>
                  <a:lnTo>
                    <a:pt x="323850" y="0"/>
                  </a:lnTo>
                  <a:close/>
                </a:path>
              </a:pathLst>
            </a:custGeom>
            <a:solidFill>
              <a:srgbClr val="BFD9F9"/>
            </a:solidFill>
          </p:spPr>
        </p:sp>
        <p:sp>
          <p:nvSpPr>
            <p:cNvPr id="21" name="TextBox 21"/>
            <p:cNvSpPr txBox="1"/>
            <p:nvPr/>
          </p:nvSpPr>
          <p:spPr>
            <a:xfrm>
              <a:off x="152400" y="66675"/>
              <a:ext cx="342900" cy="339725"/>
            </a:xfrm>
            <a:prstGeom prst="rect">
              <a:avLst/>
            </a:prstGeom>
          </p:spPr>
          <p:txBody>
            <a:bodyPr lIns="50800" tIns="50800" rIns="50800" bIns="50800" rtlCol="0" anchor="ctr"/>
            <a:lstStyle/>
            <a:p>
              <a:pPr algn="ctr">
                <a:lnSpc>
                  <a:spcPts val="3499"/>
                </a:lnSpc>
              </a:pPr>
              <a:endParaRPr/>
            </a:p>
          </p:txBody>
        </p:sp>
      </p:grpSp>
      <p:pic>
        <p:nvPicPr>
          <p:cNvPr id="23" name="Picture 22">
            <a:extLst>
              <a:ext uri="{FF2B5EF4-FFF2-40B4-BE49-F238E27FC236}">
                <a16:creationId xmlns:a16="http://schemas.microsoft.com/office/drawing/2014/main" id="{B235D2FD-BD15-A224-6161-50B96E159158}"/>
              </a:ext>
            </a:extLst>
          </p:cNvPr>
          <p:cNvPicPr>
            <a:picLocks noChangeAspect="1"/>
          </p:cNvPicPr>
          <p:nvPr/>
        </p:nvPicPr>
        <p:blipFill>
          <a:blip r:embed="rId2"/>
          <a:stretch>
            <a:fillRect/>
          </a:stretch>
        </p:blipFill>
        <p:spPr>
          <a:xfrm>
            <a:off x="514733" y="514170"/>
            <a:ext cx="847417" cy="8474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462</Words>
  <Application>Microsoft Office PowerPoint</Application>
  <PresentationFormat>Custom</PresentationFormat>
  <Paragraphs>60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Open Sans</vt:lpstr>
      <vt:lpstr>Poppins Bold</vt:lpstr>
      <vt:lpstr>Poppins Semi-Bold</vt:lpstr>
      <vt:lpstr>Open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Professional Data Analytics Presentation</dc:title>
  <dc:creator>Kalaivani M</dc:creator>
  <cp:lastModifiedBy>Kalaivani M</cp:lastModifiedBy>
  <cp:revision>3</cp:revision>
  <dcterms:created xsi:type="dcterms:W3CDTF">2006-08-16T00:00:00Z</dcterms:created>
  <dcterms:modified xsi:type="dcterms:W3CDTF">2026-06-16T08:16:38Z</dcterms:modified>
  <dc:identifier>DAHMbGifYX8</dc:identifier>
</cp:coreProperties>
</file>